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a282fb4-faad-2726-9a67-9df5370fb016}">
          <p14:sldIdLst>
            <p14:sldId id="256"/>
          </p14:sldIdLst>
        </p14:section>
        <p14:section name="Problem" id="{a780d5ad-2e0c-453b-c95c-54207f2dd115}">
          <p14:sldIdLst>
            <p14:sldId id="257"/>
          </p14:sldIdLst>
        </p14:section>
        <p14:section name="Solution" id="{e1cb41b4-a98d-6843-0db7-23bd5ac45111}">
          <p14:sldIdLst>
            <p14:sldId id="258"/>
          </p14:sldIdLst>
        </p14:section>
        <p14:section name="Demo" id="{8dbd1437-4686-27c1-09f9-795f4a20833b}">
          <p14:sldIdLst>
            <p14:sldId id="259"/>
          </p14:sldIdLst>
        </p14:section>
        <p14:section name="MongoDB Atlas" id="{cc822817-1f8e-78f5-69a8-e56184cbaee1}">
          <p14:sldIdLst>
            <p14:sldId id="260"/>
            <p14:sldId id="261"/>
          </p14:sldIdLst>
        </p14:section>
        <p14:section name="Trust" id="{36cd613f-2297-5094-be4e-fc15da152cfe}">
          <p14:sldIdLst>
            <p14:sldId id="262"/>
          </p14:sldIdLst>
        </p14:section>
        <p14:section name="Close" id="{b1b33309-dc36-83bb-6f1d-7a55a2adaa1b}">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~15 s]
Hi, we're Mr Munch, your AI dining concierge for people with allergies and dietary restrictions.
I'm Marco, I'm allergic to shellfish. Armando is vegan. So for us, every dinner out starts with the same question: what can we actually eat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~30 s]
We're not alone. 2.4 million adults in the UK have a clinically confirmed food allergy. One in a hundred people has coeliac disease. And hospital admissions for food anaphylaxis tripled in twenty years.
Yet menus rarely tell you what's in a dish. So you call the restaurant, you decode the menu, you hope the kitchen understood. And when you go out as a group, everyone has a different rule.
Sources: FSA Patterns and Prevalence of Adult Food Allergy (2024); Coeliac UK; Baseggio Conrado et al., BMJ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[Armando, ~20 s]
Mr Munch does the research for you in four steps.
It finds nearby restaurants with Google Maps and cross-checks them with OpenStreetMap's vegan and vegetarian tags.
It reads the menus, from the restaurant's website or from a photo of the specials board.
It checks every dish against the UK's 14 major allergens and your diet.
And then your Saint agent books the table, but only after asking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[Armando drives, ~60 s]
Send the request to Saint: "Find us dinner tonight near Shoreditch. Armando is vegan, Marco can't eat shellfish."
While it runs (the API takes ~45 s, so talk over it):
 - "First it asks MongoDB Atlas what it already knows: a hybrid search over every dish other users have found."
 - "Then Google Maps and OpenStreetMap find vegan-friendly places nearby, and it reads their menus."
When the answer arrives, point at:
 - the restaurant and its OpenStreetMap vegan tag,
 - dishes with their allergens, and the line that says the kitchen must confirm (unknown never counts as safe),
 - Saint asking for permission before booking. Say yes.
Backup: if the call is slow or fails, play the recorded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~30 s]
MongoDB Atlas is the shared brain, and it's one platform: no separate vector database, embedding pipeline or search engine.
Every dish we read is stored once and Atlas embeds it automatically with Voyage AI.
Recommendations run a hybrid search: $rankFusion combines full-text search, for exact words like prawn or gluten, with vector search, for meaning, and filters out dishes with your allergens. Voyage reranks the results.
Then the LLM writes the answer only from the dishes Atlas returned, so it can't invent a menu.
And it compounds: every menu one person reads makes the next search smarter. We already have more than 630 dishes from real menus across 239 restaurants.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~10 s, or leave it up for Q&amp;A]
"And here's exactly how, in our code." Point at the grid: full-text search for exact allergen words, vector search with Atlas embedding every dish itself, $rankFusion to merge them, Voyage rerank, a 2dsphere index for 'near me', and upserts on a unique index so every menu read is stored once and shared.
Source: lib/db/hybridSearch.ts, atlas/indexes/, lib/db/persist.ts, lib/services/mongodb.ts.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[Armando, ~15 s]
Food allergies are serious, so Mr Munch is honest: unknown never counts as safe. When the menu doesn't say, it tells you to ask the kitchen.
It's private: we never store anyone's allergies. Your own Saint keeps them.
And you stay in control: Saint always asks before it messages, books or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~10 s]
Mr Munch: find, read, check and book, so people like Armando and me can eat out without the fear.
Thank you! The API is live at mrmunch.vercel.app and the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4297680" cy="11430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548640" y="3611880"/>
            <a:ext cx="4297680"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pli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931920" y="365760"/>
            <a:ext cx="4663440" cy="10058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475488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1F2A4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680960" cy="822960"/>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6.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photo" descr="Dimly lit restaurant dining room">    </p:cNvPr>
          <p:cNvPicPr>
            <a:picLocks noChangeAspect="1"/>
          </p:cNvPicPr>
          <p:nvPr/>
        </p:nvPicPr>
        <p:blipFill>
          <a:blip r:embed="rId1"/>
          <a:srcRect l="0" r="0" t="0" b="0"/>
          <a:stretch/>
        </p:blipFill>
        <p:spPr>
          <a:xfrm>
            <a:off x="5120640" y="0"/>
            <a:ext cx="4023360" cy="5143500"/>
          </a:xfrm>
          <a:prstGeom prst="rect">
            <a:avLst/>
          </a:prstGeom>
        </p:spPr>
      </p:pic>
      <p:sp>
        <p:nvSpPr>
          <p:cNvPr id="3" name="Badge circle"/>
          <p:cNvSpPr/>
          <p:nvPr/>
        </p:nvSpPr>
        <p:spPr>
          <a:xfrm>
            <a:off x="548640" y="457200"/>
            <a:ext cx="1005840" cy="1005840"/>
          </a:xfrm>
          <a:prstGeom prst="ellipse">
            <a:avLst/>
          </a:prstGeom>
          <a:solidFill>
            <a:schemeClr val="bg1"/>
          </a:solidFill>
          <a:ln/>
        </p:spPr>
      </p:sp>
      <p:pic>
        <p:nvPicPr>
          <p:cNvPr id="4" name="Badge" descr="Mr Munch logo: a tuxedo cat holding a fork and a phone">    </p:cNvPr>
          <p:cNvPicPr>
            <a:picLocks noChangeAspect="1"/>
          </p:cNvPicPr>
          <p:nvPr/>
        </p:nvPicPr>
        <p:blipFill>
          <a:blip r:embed="rId2"/>
          <a:stretch>
            <a:fillRect/>
          </a:stretch>
        </p:blipFill>
        <p:spPr>
          <a:xfrm>
            <a:off x="658368" y="557784"/>
            <a:ext cx="786384" cy="749808"/>
          </a:xfrm>
          <a:prstGeom prst="rect">
            <a:avLst/>
          </a:prstGeom>
        </p:spPr>
      </p:pic>
      <p:sp>
        <p:nvSpPr>
          <p:cNvPr id="5" name="Wordmark"/>
          <p:cNvSpPr txBox="1"/>
          <p:nvPr/>
        </p:nvSpPr>
        <p:spPr>
          <a:xfrm>
            <a:off x="1737360" y="658368"/>
            <a:ext cx="3017520" cy="411480"/>
          </a:xfrm>
          <a:prstGeom prst="rect">
            <a:avLst/>
          </a:prstGeom>
          <a:noFill/>
          <a:ln/>
        </p:spPr>
        <p:txBody>
          <a:bodyPr wrap="square" lIns="0" tIns="0" rIns="0" bIns="0" rtlCol="0" anchor="ctr"/>
          <a:lstStyle/>
          <a:p>
            <a:pPr indent="0" marL="0">
              <a:buNone/>
            </a:pPr>
            <a:r>
              <a:rPr lang="en-US" sz="2400" b="1" dirty="0">
                <a:solidFill>
                  <a:schemeClr val="bg1"/>
                </a:solidFill>
                <a:latin typeface="Montserrat" pitchFamily="34" charset="0"/>
                <a:ea typeface="Montserrat" pitchFamily="34" charset="-122"/>
                <a:cs typeface="Montserrat" pitchFamily="34" charset="-120"/>
              </a:rPr>
              <a:t>Mr Munch</a:t>
            </a:r>
            <a:endParaRPr lang="en-US" sz="2400" dirty="0"/>
          </a:p>
        </p:txBody>
      </p:sp>
      <p:sp>
        <p:nvSpPr>
          <p:cNvPr id="6" name="Wordmark tag"/>
          <p:cNvSpPr txBox="1"/>
          <p:nvPr/>
        </p:nvSpPr>
        <p:spPr>
          <a:xfrm>
            <a:off x="1737360" y="1069848"/>
            <a:ext cx="301752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AI DINING CONCIERGE</a:t>
            </a:r>
            <a:endParaRPr lang="en-US" sz="1000" dirty="0"/>
          </a:p>
        </p:txBody>
      </p:sp>
      <p:sp>
        <p:nvSpPr>
          <p:cNvPr id="7" name="Text 0"/>
          <p:cNvSpPr/>
          <p:nvPr>
            <p:ph idx="100" type="title" hasCustomPrompt="1"/>
          </p:nvPr>
        </p:nvSpPr>
        <p:spPr>
          <a:xfrm>
            <a:off x="548640" y="2377440"/>
            <a:ext cx="4297680" cy="1143000"/>
          </a:xfrm>
          <a:prstGeom prst="rect">
            <a:avLst/>
          </a:prstGeom>
          <a:noFill/>
          <a:ln/>
        </p:spPr>
        <p:txBody>
          <a:bodyPr wrap="square" lIns="0" tIns="0" rIns="0" bIns="0" rtlCol="0" anchor="t"/>
          <a:lstStyle/>
          <a:p>
            <a:pPr algn="l" indent="0" marL="0">
              <a:buNone/>
            </a:pPr>
            <a:r>
              <a:rPr lang="en-US" sz="3200" b="1" dirty="0">
                <a:solidFill>
                  <a:schemeClr val="bg1"/>
                </a:solidFill>
              </a:rPr>
              <a:t>Eat out without the fear</a:t>
            </a:r>
            <a:endParaRPr lang="en-US" sz="3200" dirty="0"/>
          </a:p>
        </p:txBody>
      </p:sp>
      <p:sp>
        <p:nvSpPr>
          <p:cNvPr id="8" name="Text 0"/>
          <p:cNvSpPr/>
          <p:nvPr>
            <p:ph idx="101" type="body" hasCustomPrompt="1"/>
          </p:nvPr>
        </p:nvSpPr>
        <p:spPr>
          <a:xfrm>
            <a:off x="548640" y="3611880"/>
            <a:ext cx="4297680" cy="457200"/>
          </a:xfrm>
          <a:prstGeom prst="rect">
            <a:avLst/>
          </a:prstGeom>
          <a:noFill/>
          <a:ln/>
        </p:spPr>
        <p:txBody>
          <a:bodyPr wrap="square" lIns="0" tIns="0" rIns="0" bIns="0" rtlCol="0" anchor="t"/>
          <a:lstStyle/>
          <a:p>
            <a:pPr indent="0" marL="0">
              <a:buNone/>
            </a:pPr>
            <a:r>
              <a:rPr lang="en-US" sz="1600" dirty="0">
                <a:solidFill>
                  <a:schemeClr val="accent4"/>
                </a:solidFill>
              </a:rPr>
              <a:t>Your AI dining concierge for allergies and diets</a:t>
            </a:r>
            <a:endParaRPr lang="en-US" sz="1600" dirty="0"/>
          </a:p>
        </p:txBody>
      </p:sp>
      <p:sp>
        <p:nvSpPr>
          <p:cNvPr id="9" name="Team line"/>
          <p:cNvSpPr txBox="1"/>
          <p:nvPr/>
        </p:nvSpPr>
        <p:spPr>
          <a:xfrm>
            <a:off x="548640" y="4434840"/>
            <a:ext cx="4389120" cy="274320"/>
          </a:xfrm>
          <a:prstGeom prst="rect">
            <a:avLst/>
          </a:prstGeom>
          <a:noFill/>
          <a:ln/>
        </p:spPr>
        <p:txBody>
          <a:bodyPr wrap="square" lIns="0" tIns="0" rIns="0" bIns="0" rtlCol="0" anchor="ctr"/>
          <a:lstStyle/>
          <a:p>
            <a:pPr indent="0" marL="0">
              <a:buNone/>
            </a:pPr>
            <a:r>
              <a:rPr lang="en-US" sz="1200" dirty="0">
                <a:solidFill>
                  <a:schemeClr val="accent4"/>
                </a:solidFill>
              </a:rPr>
              <a:t>Armando Medina  ·  Marco Germanier  ·  Encode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Eating out shouldn't be a gamble</a:t>
            </a:r>
            <a:endParaRPr lang="en-US" sz="3200" dirty="0"/>
          </a:p>
        </p:txBody>
      </p:sp>
      <p:sp>
        <p:nvSpPr>
          <p:cNvPr id="3" name="Stat card 1"/>
          <p:cNvSpPr/>
          <p:nvPr/>
        </p:nvSpPr>
        <p:spPr>
          <a:xfrm>
            <a:off x="548640" y="1371600"/>
            <a:ext cx="2560320" cy="2240280"/>
          </a:xfrm>
          <a:prstGeom prst="roundRect">
            <a:avLst>
              <a:gd name="adj" fmla="val 4898"/>
            </a:avLst>
          </a:prstGeom>
          <a:solidFill>
            <a:schemeClr val="bg2"/>
          </a:solidFill>
          <a:ln/>
        </p:spPr>
      </p:sp>
      <p:sp>
        <p:nvSpPr>
          <p:cNvPr id="4" name="Stat 1"/>
          <p:cNvSpPr txBox="1"/>
          <p:nvPr/>
        </p:nvSpPr>
        <p:spPr>
          <a:xfrm>
            <a:off x="777240" y="1554480"/>
            <a:ext cx="2103120" cy="777240"/>
          </a:xfrm>
          <a:prstGeom prst="rect">
            <a:avLst/>
          </a:prstGeom>
          <a:noFill/>
          <a:ln/>
        </p:spPr>
        <p:txBody>
          <a:bodyPr wrap="square" lIns="0" tIns="0" rIns="0" bIns="0" rtlCol="0" anchor="ctr"/>
          <a:lstStyle/>
          <a:p>
            <a:pPr indent="0" marL="0">
              <a:buNone/>
            </a:pPr>
            <a:r>
              <a:rPr lang="en-US" sz="4400" b="1" dirty="0">
                <a:solidFill>
                  <a:schemeClr val="tx2"/>
                </a:solidFill>
                <a:latin typeface="Montserrat" pitchFamily="34" charset="0"/>
                <a:ea typeface="Montserrat" pitchFamily="34" charset="-122"/>
                <a:cs typeface="Montserrat" pitchFamily="34" charset="-120"/>
              </a:rPr>
              <a:t>2.4M</a:t>
            </a:r>
            <a:endParaRPr lang="en-US" sz="4400" dirty="0"/>
          </a:p>
        </p:txBody>
      </p:sp>
      <p:sp>
        <p:nvSpPr>
          <p:cNvPr id="5" name="Stat label 1"/>
          <p:cNvSpPr txBox="1"/>
          <p:nvPr/>
        </p:nvSpPr>
        <p:spPr>
          <a:xfrm>
            <a:off x="777240" y="2377440"/>
            <a:ext cx="2103120" cy="777240"/>
          </a:xfrm>
          <a:prstGeom prst="rect">
            <a:avLst/>
          </a:prstGeom>
          <a:noFill/>
          <a:ln/>
        </p:spPr>
        <p:txBody>
          <a:bodyPr wrap="square" lIns="0" tIns="0" rIns="0" bIns="0" rtlCol="0" anchor="t"/>
          <a:lstStyle/>
          <a:p>
            <a:pPr indent="0" marL="0">
              <a:buNone/>
            </a:pPr>
            <a:r>
              <a:rPr lang="en-US" sz="1400" dirty="0">
                <a:solidFill>
                  <a:schemeClr val="tx1"/>
                </a:solidFill>
              </a:rPr>
              <a:t>UK adults live with a clinically confirmed food allergy</a:t>
            </a:r>
            <a:endParaRPr lang="en-US" sz="1400" dirty="0"/>
          </a:p>
        </p:txBody>
      </p:sp>
      <p:sp>
        <p:nvSpPr>
          <p:cNvPr id="6" name="Stat source 1"/>
          <p:cNvSpPr txBox="1"/>
          <p:nvPr/>
        </p:nvSpPr>
        <p:spPr>
          <a:xfrm>
            <a:off x="777240" y="3246120"/>
            <a:ext cx="2103120" cy="228600"/>
          </a:xfrm>
          <a:prstGeom prst="rect">
            <a:avLst/>
          </a:prstGeom>
          <a:noFill/>
          <a:ln/>
        </p:spPr>
        <p:txBody>
          <a:bodyPr wrap="square" lIns="0" tIns="0" rIns="0" bIns="0" rtlCol="0" anchor="ctr"/>
          <a:lstStyle/>
          <a:p>
            <a:pPr indent="0" marL="0">
              <a:buNone/>
            </a:pPr>
            <a:r>
              <a:rPr lang="en-US" sz="1000" dirty="0">
                <a:solidFill>
                  <a:schemeClr val="accent3"/>
                </a:solidFill>
              </a:rPr>
              <a:t>Food Standards Agency, 2024</a:t>
            </a:r>
            <a:endParaRPr lang="en-US" sz="1000" dirty="0"/>
          </a:p>
        </p:txBody>
      </p:sp>
      <p:sp>
        <p:nvSpPr>
          <p:cNvPr id="7" name="Stat card 2"/>
          <p:cNvSpPr/>
          <p:nvPr/>
        </p:nvSpPr>
        <p:spPr>
          <a:xfrm>
            <a:off x="3291840" y="1371600"/>
            <a:ext cx="2560320" cy="2240280"/>
          </a:xfrm>
          <a:prstGeom prst="roundRect">
            <a:avLst>
              <a:gd name="adj" fmla="val 4898"/>
            </a:avLst>
          </a:prstGeom>
          <a:solidFill>
            <a:schemeClr val="bg2"/>
          </a:solidFill>
          <a:ln/>
        </p:spPr>
      </p:sp>
      <p:sp>
        <p:nvSpPr>
          <p:cNvPr id="8" name="Stat 2"/>
          <p:cNvSpPr txBox="1"/>
          <p:nvPr/>
        </p:nvSpPr>
        <p:spPr>
          <a:xfrm>
            <a:off x="3520440" y="1554480"/>
            <a:ext cx="2103120" cy="777240"/>
          </a:xfrm>
          <a:prstGeom prst="rect">
            <a:avLst/>
          </a:prstGeom>
          <a:noFill/>
          <a:ln/>
        </p:spPr>
        <p:txBody>
          <a:bodyPr wrap="square" lIns="0" tIns="0" rIns="0" bIns="0" rtlCol="0" anchor="ctr"/>
          <a:lstStyle/>
          <a:p>
            <a:pPr indent="0" marL="0">
              <a:buNone/>
            </a:pPr>
            <a:r>
              <a:rPr lang="en-US" sz="4400" b="1" dirty="0">
                <a:solidFill>
                  <a:schemeClr val="tx2"/>
                </a:solidFill>
                <a:latin typeface="Montserrat" pitchFamily="34" charset="0"/>
                <a:ea typeface="Montserrat" pitchFamily="34" charset="-122"/>
                <a:cs typeface="Montserrat" pitchFamily="34" charset="-120"/>
              </a:rPr>
              <a:t>1 in 100</a:t>
            </a:r>
            <a:endParaRPr lang="en-US" sz="4400" dirty="0"/>
          </a:p>
        </p:txBody>
      </p:sp>
      <p:sp>
        <p:nvSpPr>
          <p:cNvPr id="9" name="Stat label 2"/>
          <p:cNvSpPr txBox="1"/>
          <p:nvPr/>
        </p:nvSpPr>
        <p:spPr>
          <a:xfrm>
            <a:off x="3520440" y="2377440"/>
            <a:ext cx="2103120" cy="777240"/>
          </a:xfrm>
          <a:prstGeom prst="rect">
            <a:avLst/>
          </a:prstGeom>
          <a:noFill/>
          <a:ln/>
        </p:spPr>
        <p:txBody>
          <a:bodyPr wrap="square" lIns="0" tIns="0" rIns="0" bIns="0" rtlCol="0" anchor="t"/>
          <a:lstStyle/>
          <a:p>
            <a:pPr indent="0" marL="0">
              <a:buNone/>
            </a:pPr>
            <a:r>
              <a:rPr lang="en-US" sz="1400" dirty="0">
                <a:solidFill>
                  <a:schemeClr val="tx1"/>
                </a:solidFill>
              </a:rPr>
              <a:t>people in the UK have coeliac disease</a:t>
            </a:r>
            <a:endParaRPr lang="en-US" sz="1400" dirty="0"/>
          </a:p>
        </p:txBody>
      </p:sp>
      <p:sp>
        <p:nvSpPr>
          <p:cNvPr id="10" name="Stat source 2"/>
          <p:cNvSpPr txBox="1"/>
          <p:nvPr/>
        </p:nvSpPr>
        <p:spPr>
          <a:xfrm>
            <a:off x="3520440" y="3246120"/>
            <a:ext cx="2103120" cy="228600"/>
          </a:xfrm>
          <a:prstGeom prst="rect">
            <a:avLst/>
          </a:prstGeom>
          <a:noFill/>
          <a:ln/>
        </p:spPr>
        <p:txBody>
          <a:bodyPr wrap="square" lIns="0" tIns="0" rIns="0" bIns="0" rtlCol="0" anchor="ctr"/>
          <a:lstStyle/>
          <a:p>
            <a:pPr indent="0" marL="0">
              <a:buNone/>
            </a:pPr>
            <a:r>
              <a:rPr lang="en-US" sz="1000" dirty="0">
                <a:solidFill>
                  <a:schemeClr val="accent3"/>
                </a:solidFill>
              </a:rPr>
              <a:t>Coeliac UK</a:t>
            </a:r>
            <a:endParaRPr lang="en-US" sz="1000" dirty="0"/>
          </a:p>
        </p:txBody>
      </p:sp>
      <p:sp>
        <p:nvSpPr>
          <p:cNvPr id="11" name="Stat card 3"/>
          <p:cNvSpPr/>
          <p:nvPr/>
        </p:nvSpPr>
        <p:spPr>
          <a:xfrm>
            <a:off x="6035040" y="1371600"/>
            <a:ext cx="2560320" cy="2240280"/>
          </a:xfrm>
          <a:prstGeom prst="roundRect">
            <a:avLst>
              <a:gd name="adj" fmla="val 4898"/>
            </a:avLst>
          </a:prstGeom>
          <a:solidFill>
            <a:schemeClr val="bg2"/>
          </a:solidFill>
          <a:ln/>
        </p:spPr>
      </p:sp>
      <p:sp>
        <p:nvSpPr>
          <p:cNvPr id="12" name="Stat 3"/>
          <p:cNvSpPr txBox="1"/>
          <p:nvPr/>
        </p:nvSpPr>
        <p:spPr>
          <a:xfrm>
            <a:off x="6263640" y="1554480"/>
            <a:ext cx="2103120" cy="777240"/>
          </a:xfrm>
          <a:prstGeom prst="rect">
            <a:avLst/>
          </a:prstGeom>
          <a:noFill/>
          <a:ln/>
        </p:spPr>
        <p:txBody>
          <a:bodyPr wrap="square" lIns="0" tIns="0" rIns="0" bIns="0" rtlCol="0" anchor="ctr"/>
          <a:lstStyle/>
          <a:p>
            <a:pPr indent="0" marL="0">
              <a:buNone/>
            </a:pPr>
            <a:r>
              <a:rPr lang="en-US" sz="4400" b="1" dirty="0">
                <a:solidFill>
                  <a:schemeClr val="tx2"/>
                </a:solidFill>
                <a:latin typeface="Montserrat" pitchFamily="34" charset="0"/>
                <a:ea typeface="Montserrat" pitchFamily="34" charset="-122"/>
                <a:cs typeface="Montserrat" pitchFamily="34" charset="-120"/>
              </a:rPr>
              <a:t>3×</a:t>
            </a:r>
            <a:endParaRPr lang="en-US" sz="4400" dirty="0"/>
          </a:p>
        </p:txBody>
      </p:sp>
      <p:sp>
        <p:nvSpPr>
          <p:cNvPr id="13" name="Stat label 3"/>
          <p:cNvSpPr txBox="1"/>
          <p:nvPr/>
        </p:nvSpPr>
        <p:spPr>
          <a:xfrm>
            <a:off x="6263640" y="2377440"/>
            <a:ext cx="2103120" cy="777240"/>
          </a:xfrm>
          <a:prstGeom prst="rect">
            <a:avLst/>
          </a:prstGeom>
          <a:noFill/>
          <a:ln/>
        </p:spPr>
        <p:txBody>
          <a:bodyPr wrap="square" lIns="0" tIns="0" rIns="0" bIns="0" rtlCol="0" anchor="t"/>
          <a:lstStyle/>
          <a:p>
            <a:pPr indent="0" marL="0">
              <a:buNone/>
            </a:pPr>
            <a:r>
              <a:rPr lang="en-US" sz="1400" dirty="0">
                <a:solidFill>
                  <a:schemeClr val="tx1"/>
                </a:solidFill>
              </a:rPr>
              <a:t>rise in food-anaphylaxis hospital admissions, 1998–2018</a:t>
            </a:r>
            <a:endParaRPr lang="en-US" sz="1400" dirty="0"/>
          </a:p>
        </p:txBody>
      </p:sp>
      <p:sp>
        <p:nvSpPr>
          <p:cNvPr id="14" name="Stat source 3"/>
          <p:cNvSpPr txBox="1"/>
          <p:nvPr/>
        </p:nvSpPr>
        <p:spPr>
          <a:xfrm>
            <a:off x="6263640" y="3246120"/>
            <a:ext cx="2103120" cy="228600"/>
          </a:xfrm>
          <a:prstGeom prst="rect">
            <a:avLst/>
          </a:prstGeom>
          <a:noFill/>
          <a:ln/>
        </p:spPr>
        <p:txBody>
          <a:bodyPr wrap="square" lIns="0" tIns="0" rIns="0" bIns="0" rtlCol="0" anchor="ctr"/>
          <a:lstStyle/>
          <a:p>
            <a:pPr indent="0" marL="0">
              <a:buNone/>
            </a:pPr>
            <a:r>
              <a:rPr lang="en-US" sz="1000" dirty="0">
                <a:solidFill>
                  <a:schemeClr val="accent3"/>
                </a:solidFill>
              </a:rPr>
              <a:t>BMJ, 2021</a:t>
            </a:r>
            <a:endParaRPr lang="en-US" sz="1000" dirty="0"/>
          </a:p>
        </p:txBody>
      </p:sp>
      <p:sp>
        <p:nvSpPr>
          <p:cNvPr id="15" name="Problem statement"/>
          <p:cNvSpPr txBox="1"/>
          <p:nvPr/>
        </p:nvSpPr>
        <p:spPr>
          <a:xfrm>
            <a:off x="548640" y="3886200"/>
            <a:ext cx="7680960" cy="640080"/>
          </a:xfrm>
          <a:prstGeom prst="rect">
            <a:avLst/>
          </a:prstGeom>
          <a:noFill/>
          <a:ln/>
        </p:spPr>
        <p:txBody>
          <a:bodyPr wrap="square" lIns="0" tIns="0" rIns="0" bIns="0" rtlCol="0" anchor="ctr"/>
          <a:lstStyle/>
          <a:p>
            <a:pPr indent="0" marL="0">
              <a:buNone/>
            </a:pPr>
            <a:r>
              <a:rPr lang="en-US" sz="1600" i="1" dirty="0">
                <a:solidFill>
                  <a:schemeClr val="tx2"/>
                </a:solidFill>
              </a:rPr>
              <a:t>Menus rarely list allergens. Every dinner starts with phone calls, cryptic menus and guesswork. In a group, everyone has a different rule.</a:t>
            </a:r>
            <a:endParaRPr lang="en-US" sz="16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From craving to a confirmed table</a:t>
            </a:r>
            <a:endParaRPr lang="en-US" sz="3200" dirty="0"/>
          </a:p>
        </p:txBody>
      </p:sp>
      <p:sp>
        <p:nvSpPr>
          <p:cNvPr id="3" name="Step 1 circle"/>
          <p:cNvSpPr/>
          <p:nvPr/>
        </p:nvSpPr>
        <p:spPr>
          <a:xfrm>
            <a:off x="548640" y="1417320"/>
            <a:ext cx="731520" cy="731520"/>
          </a:xfrm>
          <a:prstGeom prst="ellipse">
            <a:avLst/>
          </a:prstGeom>
          <a:solidFill>
            <a:schemeClr val="accent1"/>
          </a:solidFill>
          <a:ln/>
        </p:spPr>
      </p:sp>
      <p:pic>
        <p:nvPicPr>
          <p:cNvPr id="4" name="Step 1 icon" descr="Find icon">    </p:cNvPr>
          <p:cNvPicPr>
            <a:picLocks noChangeAspect="1"/>
          </p:cNvPicPr>
          <p:nvPr/>
        </p:nvPicPr>
        <p:blipFill>
          <a:blip r:embed="rId1"/>
          <a:stretch>
            <a:fillRect/>
          </a:stretch>
        </p:blipFill>
        <p:spPr>
          <a:xfrm>
            <a:off x="731520" y="1600200"/>
            <a:ext cx="365760" cy="365760"/>
          </a:xfrm>
          <a:prstGeom prst="rect">
            <a:avLst/>
          </a:prstGeom>
        </p:spPr>
      </p:pic>
      <p:pic>
        <p:nvPicPr>
          <p:cNvPr id="5" name="Arrow 1" descr="Next step">    </p:cNvPr>
          <p:cNvPicPr>
            <a:picLocks noChangeAspect="1"/>
          </p:cNvPicPr>
          <p:nvPr/>
        </p:nvPicPr>
        <p:blipFill>
          <a:blip r:embed="rId2"/>
          <a:stretch>
            <a:fillRect/>
          </a:stretch>
        </p:blipFill>
        <p:spPr>
          <a:xfrm>
            <a:off x="1600200" y="1645920"/>
            <a:ext cx="274320" cy="274320"/>
          </a:xfrm>
          <a:prstGeom prst="rect">
            <a:avLst/>
          </a:prstGeom>
        </p:spPr>
      </p:pic>
      <p:sp>
        <p:nvSpPr>
          <p:cNvPr id="6" name="Step 1 title"/>
          <p:cNvSpPr txBox="1"/>
          <p:nvPr/>
        </p:nvSpPr>
        <p:spPr>
          <a:xfrm>
            <a:off x="548640" y="2331720"/>
            <a:ext cx="1783080" cy="365760"/>
          </a:xfrm>
          <a:prstGeom prst="rect">
            <a:avLst/>
          </a:prstGeom>
          <a:noFill/>
          <a:ln/>
        </p:spPr>
        <p:txBody>
          <a:bodyPr wrap="square" lIns="0" tIns="0" rIns="0" bIns="0" rtlCol="0" anchor="ctr"/>
          <a:lstStyle/>
          <a:p>
            <a:pPr indent="0" marL="0">
              <a:buNone/>
            </a:pPr>
            <a:r>
              <a:rPr lang="en-US" sz="1800" b="1" dirty="0">
                <a:solidFill>
                  <a:schemeClr val="tx1"/>
                </a:solidFill>
              </a:rPr>
              <a:t>Find</a:t>
            </a:r>
            <a:endParaRPr lang="en-US" sz="1800" dirty="0"/>
          </a:p>
        </p:txBody>
      </p:sp>
      <p:sp>
        <p:nvSpPr>
          <p:cNvPr id="7" name="Step 1 text"/>
          <p:cNvSpPr txBox="1"/>
          <p:nvPr/>
        </p:nvSpPr>
        <p:spPr>
          <a:xfrm>
            <a:off x="548640" y="2697480"/>
            <a:ext cx="1783080" cy="914400"/>
          </a:xfrm>
          <a:prstGeom prst="rect">
            <a:avLst/>
          </a:prstGeom>
          <a:noFill/>
          <a:ln/>
        </p:spPr>
        <p:txBody>
          <a:bodyPr wrap="square" lIns="0" tIns="0" rIns="0" bIns="0" rtlCol="0" anchor="t"/>
          <a:lstStyle/>
          <a:p>
            <a:pPr indent="0" marL="0">
              <a:buNone/>
            </a:pPr>
            <a:r>
              <a:rPr lang="en-US" sz="1400" dirty="0">
                <a:solidFill>
                  <a:schemeClr val="accent3"/>
                </a:solidFill>
              </a:rPr>
              <a:t>Nearby places from Google Maps, cross-checked with OpenStreetMap diet tags</a:t>
            </a:r>
            <a:endParaRPr lang="en-US" sz="1400" dirty="0"/>
          </a:p>
        </p:txBody>
      </p:sp>
      <p:sp>
        <p:nvSpPr>
          <p:cNvPr id="8" name="Step 2 circle"/>
          <p:cNvSpPr/>
          <p:nvPr/>
        </p:nvSpPr>
        <p:spPr>
          <a:xfrm>
            <a:off x="2606040" y="1417320"/>
            <a:ext cx="731520" cy="731520"/>
          </a:xfrm>
          <a:prstGeom prst="ellipse">
            <a:avLst/>
          </a:prstGeom>
          <a:solidFill>
            <a:schemeClr val="accent1"/>
          </a:solidFill>
          <a:ln/>
        </p:spPr>
      </p:sp>
      <p:pic>
        <p:nvPicPr>
          <p:cNvPr id="9" name="Step 2 icon" descr="Read icon">    </p:cNvPr>
          <p:cNvPicPr>
            <a:picLocks noChangeAspect="1"/>
          </p:cNvPicPr>
          <p:nvPr/>
        </p:nvPicPr>
        <p:blipFill>
          <a:blip r:embed="rId3"/>
          <a:stretch>
            <a:fillRect/>
          </a:stretch>
        </p:blipFill>
        <p:spPr>
          <a:xfrm>
            <a:off x="2788920" y="1600200"/>
            <a:ext cx="365760" cy="365760"/>
          </a:xfrm>
          <a:prstGeom prst="rect">
            <a:avLst/>
          </a:prstGeom>
        </p:spPr>
      </p:pic>
      <p:pic>
        <p:nvPicPr>
          <p:cNvPr id="10" name="Arrow 2" descr="Next step">    </p:cNvPr>
          <p:cNvPicPr>
            <a:picLocks noChangeAspect="1"/>
          </p:cNvPicPr>
          <p:nvPr/>
        </p:nvPicPr>
        <p:blipFill>
          <a:blip r:embed="rId4"/>
          <a:stretch>
            <a:fillRect/>
          </a:stretch>
        </p:blipFill>
        <p:spPr>
          <a:xfrm>
            <a:off x="3657600" y="1645920"/>
            <a:ext cx="274320" cy="274320"/>
          </a:xfrm>
          <a:prstGeom prst="rect">
            <a:avLst/>
          </a:prstGeom>
        </p:spPr>
      </p:pic>
      <p:sp>
        <p:nvSpPr>
          <p:cNvPr id="11" name="Step 2 title"/>
          <p:cNvSpPr txBox="1"/>
          <p:nvPr/>
        </p:nvSpPr>
        <p:spPr>
          <a:xfrm>
            <a:off x="2606040" y="2331720"/>
            <a:ext cx="1783080" cy="365760"/>
          </a:xfrm>
          <a:prstGeom prst="rect">
            <a:avLst/>
          </a:prstGeom>
          <a:noFill/>
          <a:ln/>
        </p:spPr>
        <p:txBody>
          <a:bodyPr wrap="square" lIns="0" tIns="0" rIns="0" bIns="0" rtlCol="0" anchor="ctr"/>
          <a:lstStyle/>
          <a:p>
            <a:pPr indent="0" marL="0">
              <a:buNone/>
            </a:pPr>
            <a:r>
              <a:rPr lang="en-US" sz="1800" b="1" dirty="0">
                <a:solidFill>
                  <a:schemeClr val="tx1"/>
                </a:solidFill>
              </a:rPr>
              <a:t>Read</a:t>
            </a:r>
            <a:endParaRPr lang="en-US" sz="1800" dirty="0"/>
          </a:p>
        </p:txBody>
      </p:sp>
      <p:sp>
        <p:nvSpPr>
          <p:cNvPr id="12" name="Step 2 text"/>
          <p:cNvSpPr txBox="1"/>
          <p:nvPr/>
        </p:nvSpPr>
        <p:spPr>
          <a:xfrm>
            <a:off x="2606040" y="2697480"/>
            <a:ext cx="1783080" cy="914400"/>
          </a:xfrm>
          <a:prstGeom prst="rect">
            <a:avLst/>
          </a:prstGeom>
          <a:noFill/>
          <a:ln/>
        </p:spPr>
        <p:txBody>
          <a:bodyPr wrap="square" lIns="0" tIns="0" rIns="0" bIns="0" rtlCol="0" anchor="t"/>
          <a:lstStyle/>
          <a:p>
            <a:pPr indent="0" marL="0">
              <a:buNone/>
            </a:pPr>
            <a:r>
              <a:rPr lang="en-US" sz="1400" dirty="0">
                <a:solidFill>
                  <a:schemeClr val="accent3"/>
                </a:solidFill>
              </a:rPr>
              <a:t>Menus from restaurant websites and photos of specials boards</a:t>
            </a:r>
            <a:endParaRPr lang="en-US" sz="1400" dirty="0"/>
          </a:p>
        </p:txBody>
      </p:sp>
      <p:sp>
        <p:nvSpPr>
          <p:cNvPr id="13" name="Step 3 circle"/>
          <p:cNvSpPr/>
          <p:nvPr/>
        </p:nvSpPr>
        <p:spPr>
          <a:xfrm>
            <a:off x="4663440" y="1417320"/>
            <a:ext cx="731520" cy="731520"/>
          </a:xfrm>
          <a:prstGeom prst="ellipse">
            <a:avLst/>
          </a:prstGeom>
          <a:solidFill>
            <a:schemeClr val="accent1"/>
          </a:solidFill>
          <a:ln/>
        </p:spPr>
      </p:sp>
      <p:pic>
        <p:nvPicPr>
          <p:cNvPr id="14" name="Step 3 icon" descr="Check icon">    </p:cNvPr>
          <p:cNvPicPr>
            <a:picLocks noChangeAspect="1"/>
          </p:cNvPicPr>
          <p:nvPr/>
        </p:nvPicPr>
        <p:blipFill>
          <a:blip r:embed="rId5"/>
          <a:stretch>
            <a:fillRect/>
          </a:stretch>
        </p:blipFill>
        <p:spPr>
          <a:xfrm>
            <a:off x="4846320" y="1600200"/>
            <a:ext cx="365760" cy="365760"/>
          </a:xfrm>
          <a:prstGeom prst="rect">
            <a:avLst/>
          </a:prstGeom>
        </p:spPr>
      </p:pic>
      <p:pic>
        <p:nvPicPr>
          <p:cNvPr id="15" name="Arrow 3" descr="Next step">    </p:cNvPr>
          <p:cNvPicPr>
            <a:picLocks noChangeAspect="1"/>
          </p:cNvPicPr>
          <p:nvPr/>
        </p:nvPicPr>
        <p:blipFill>
          <a:blip r:embed="rId6"/>
          <a:stretch>
            <a:fillRect/>
          </a:stretch>
        </p:blipFill>
        <p:spPr>
          <a:xfrm>
            <a:off x="5715000" y="1645920"/>
            <a:ext cx="274320" cy="274320"/>
          </a:xfrm>
          <a:prstGeom prst="rect">
            <a:avLst/>
          </a:prstGeom>
        </p:spPr>
      </p:pic>
      <p:sp>
        <p:nvSpPr>
          <p:cNvPr id="16" name="Step 3 title"/>
          <p:cNvSpPr txBox="1"/>
          <p:nvPr/>
        </p:nvSpPr>
        <p:spPr>
          <a:xfrm>
            <a:off x="4663440" y="2331720"/>
            <a:ext cx="1783080" cy="365760"/>
          </a:xfrm>
          <a:prstGeom prst="rect">
            <a:avLst/>
          </a:prstGeom>
          <a:noFill/>
          <a:ln/>
        </p:spPr>
        <p:txBody>
          <a:bodyPr wrap="square" lIns="0" tIns="0" rIns="0" bIns="0" rtlCol="0" anchor="ctr"/>
          <a:lstStyle/>
          <a:p>
            <a:pPr indent="0" marL="0">
              <a:buNone/>
            </a:pPr>
            <a:r>
              <a:rPr lang="en-US" sz="1800" b="1" dirty="0">
                <a:solidFill>
                  <a:schemeClr val="tx1"/>
                </a:solidFill>
              </a:rPr>
              <a:t>Check</a:t>
            </a:r>
            <a:endParaRPr lang="en-US" sz="1800" dirty="0"/>
          </a:p>
        </p:txBody>
      </p:sp>
      <p:sp>
        <p:nvSpPr>
          <p:cNvPr id="17" name="Step 3 text"/>
          <p:cNvSpPr txBox="1"/>
          <p:nvPr/>
        </p:nvSpPr>
        <p:spPr>
          <a:xfrm>
            <a:off x="4663440" y="2697480"/>
            <a:ext cx="1783080" cy="914400"/>
          </a:xfrm>
          <a:prstGeom prst="rect">
            <a:avLst/>
          </a:prstGeom>
          <a:noFill/>
          <a:ln/>
        </p:spPr>
        <p:txBody>
          <a:bodyPr wrap="square" lIns="0" tIns="0" rIns="0" bIns="0" rtlCol="0" anchor="t"/>
          <a:lstStyle/>
          <a:p>
            <a:pPr indent="0" marL="0">
              <a:buNone/>
            </a:pPr>
            <a:r>
              <a:rPr lang="en-US" sz="1400" dirty="0">
                <a:solidFill>
                  <a:schemeClr val="accent3"/>
                </a:solidFill>
              </a:rPr>
              <a:t>Every dish against the UK's 14 major allergens and your diets</a:t>
            </a:r>
            <a:endParaRPr lang="en-US" sz="1400" dirty="0"/>
          </a:p>
        </p:txBody>
      </p:sp>
      <p:sp>
        <p:nvSpPr>
          <p:cNvPr id="18" name="Step 4 circle"/>
          <p:cNvSpPr/>
          <p:nvPr/>
        </p:nvSpPr>
        <p:spPr>
          <a:xfrm>
            <a:off x="6720840" y="1417320"/>
            <a:ext cx="731520" cy="731520"/>
          </a:xfrm>
          <a:prstGeom prst="ellipse">
            <a:avLst/>
          </a:prstGeom>
          <a:solidFill>
            <a:schemeClr val="accent1"/>
          </a:solidFill>
          <a:ln/>
        </p:spPr>
      </p:sp>
      <p:pic>
        <p:nvPicPr>
          <p:cNvPr id="19" name="Step 4 icon" descr="Book icon">    </p:cNvPr>
          <p:cNvPicPr>
            <a:picLocks noChangeAspect="1"/>
          </p:cNvPicPr>
          <p:nvPr/>
        </p:nvPicPr>
        <p:blipFill>
          <a:blip r:embed="rId7"/>
          <a:stretch>
            <a:fillRect/>
          </a:stretch>
        </p:blipFill>
        <p:spPr>
          <a:xfrm>
            <a:off x="6903720" y="1600200"/>
            <a:ext cx="365760" cy="365760"/>
          </a:xfrm>
          <a:prstGeom prst="rect">
            <a:avLst/>
          </a:prstGeom>
        </p:spPr>
      </p:pic>
      <p:sp>
        <p:nvSpPr>
          <p:cNvPr id="20" name="Step 4 title"/>
          <p:cNvSpPr txBox="1"/>
          <p:nvPr/>
        </p:nvSpPr>
        <p:spPr>
          <a:xfrm>
            <a:off x="6720840" y="2331720"/>
            <a:ext cx="1783080" cy="365760"/>
          </a:xfrm>
          <a:prstGeom prst="rect">
            <a:avLst/>
          </a:prstGeom>
          <a:noFill/>
          <a:ln/>
        </p:spPr>
        <p:txBody>
          <a:bodyPr wrap="square" lIns="0" tIns="0" rIns="0" bIns="0" rtlCol="0" anchor="ctr"/>
          <a:lstStyle/>
          <a:p>
            <a:pPr indent="0" marL="0">
              <a:buNone/>
            </a:pPr>
            <a:r>
              <a:rPr lang="en-US" sz="1800" b="1" dirty="0">
                <a:solidFill>
                  <a:schemeClr val="tx1"/>
                </a:solidFill>
              </a:rPr>
              <a:t>Book</a:t>
            </a:r>
            <a:endParaRPr lang="en-US" sz="1800" dirty="0"/>
          </a:p>
        </p:txBody>
      </p:sp>
      <p:sp>
        <p:nvSpPr>
          <p:cNvPr id="21" name="Step 4 text"/>
          <p:cNvSpPr txBox="1"/>
          <p:nvPr/>
        </p:nvSpPr>
        <p:spPr>
          <a:xfrm>
            <a:off x="6720840" y="2697480"/>
            <a:ext cx="1783080" cy="914400"/>
          </a:xfrm>
          <a:prstGeom prst="rect">
            <a:avLst/>
          </a:prstGeom>
          <a:noFill/>
          <a:ln/>
        </p:spPr>
        <p:txBody>
          <a:bodyPr wrap="square" lIns="0" tIns="0" rIns="0" bIns="0" rtlCol="0" anchor="t"/>
          <a:lstStyle/>
          <a:p>
            <a:pPr indent="0" marL="0">
              <a:buNone/>
            </a:pPr>
            <a:r>
              <a:rPr lang="en-US" sz="1400" dirty="0">
                <a:solidFill>
                  <a:schemeClr val="accent3"/>
                </a:solidFill>
              </a:rPr>
              <a:t>Your Saint agent books the table, after asking you first</a:t>
            </a:r>
            <a:endParaRPr lang="en-US" sz="1400" dirty="0"/>
          </a:p>
        </p:txBody>
      </p:sp>
      <p:sp>
        <p:nvSpPr>
          <p:cNvPr id="22" name="Example pill"/>
          <p:cNvSpPr/>
          <p:nvPr/>
        </p:nvSpPr>
        <p:spPr>
          <a:xfrm>
            <a:off x="548640" y="3931920"/>
            <a:ext cx="8046720" cy="548640"/>
          </a:xfrm>
          <a:prstGeom prst="roundRect">
            <a:avLst>
              <a:gd name="adj" fmla="val 50000"/>
            </a:avLst>
          </a:prstGeom>
          <a:solidFill>
            <a:schemeClr val="bg2"/>
          </a:solidFill>
          <a:ln/>
        </p:spPr>
      </p:sp>
      <p:sp>
        <p:nvSpPr>
          <p:cNvPr id="23" name="Example request"/>
          <p:cNvSpPr txBox="1"/>
          <p:nvPr/>
        </p:nvSpPr>
        <p:spPr>
          <a:xfrm>
            <a:off x="777240" y="3931920"/>
            <a:ext cx="7680960" cy="548640"/>
          </a:xfrm>
          <a:prstGeom prst="rect">
            <a:avLst/>
          </a:prstGeom>
          <a:noFill/>
          <a:ln/>
        </p:spPr>
        <p:txBody>
          <a:bodyPr wrap="square" lIns="0" tIns="0" rIns="0" bIns="0" rtlCol="0" anchor="ctr"/>
          <a:lstStyle/>
          <a:p>
            <a:pPr indent="0" marL="0">
              <a:buNone/>
            </a:pPr>
            <a:r>
              <a:rPr lang="en-US" sz="1500" dirty="0">
                <a:solidFill>
                  <a:schemeClr val="accent3"/>
                </a:solidFill>
              </a:rPr>
              <a:t>You say  </a:t>
            </a:r>
            <a:pPr indent="0" marL="0">
              <a:buNone/>
            </a:pPr>
            <a:r>
              <a:rPr lang="en-US" sz="1500" i="1" dirty="0">
                <a:solidFill>
                  <a:schemeClr val="tx1"/>
                </a:solidFill>
              </a:rPr>
              <a:t>“Dinner for two near Shoreditch. One vegan, one shellfish allergy.”</a:t>
            </a:r>
            <a:endParaRPr lang="en-US" sz="15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hone frame"/>
          <p:cNvSpPr/>
          <p:nvPr/>
        </p:nvSpPr>
        <p:spPr>
          <a:xfrm>
            <a:off x="5989320" y="457200"/>
            <a:ext cx="2514600" cy="4251960"/>
          </a:xfrm>
          <a:prstGeom prst="roundRect">
            <a:avLst>
              <a:gd name="adj" fmla="val 11636"/>
            </a:avLst>
          </a:prstGeom>
          <a:solidFill>
            <a:schemeClr val="tx1"/>
          </a:solidFill>
          <a:ln w="19050">
            <a:solidFill>
              <a:schemeClr val="accent2"/>
            </a:solidFill>
            <a:prstDash val="solid"/>
          </a:ln>
        </p:spPr>
      </p:sp>
      <p:sp>
        <p:nvSpPr>
          <p:cNvPr id="3" name="Phone screen"/>
          <p:cNvSpPr/>
          <p:nvPr/>
        </p:nvSpPr>
        <p:spPr>
          <a:xfrm>
            <a:off x="6108192" y="640080"/>
            <a:ext cx="2276856" cy="3886200"/>
          </a:xfrm>
          <a:prstGeom prst="roundRect">
            <a:avLst>
              <a:gd name="adj" fmla="val 8835"/>
            </a:avLst>
          </a:prstGeom>
          <a:solidFill>
            <a:schemeClr val="bg1"/>
          </a:solidFill>
          <a:ln/>
        </p:spPr>
      </p:sp>
      <p:sp>
        <p:nvSpPr>
          <p:cNvPr id="4" name="Saint avatar"/>
          <p:cNvSpPr/>
          <p:nvPr/>
        </p:nvSpPr>
        <p:spPr>
          <a:xfrm>
            <a:off x="6245352" y="777240"/>
            <a:ext cx="310896" cy="310896"/>
          </a:xfrm>
          <a:prstGeom prst="ellipse">
            <a:avLst/>
          </a:prstGeom>
          <a:solidFill>
            <a:schemeClr val="accent1"/>
          </a:solidFill>
          <a:ln/>
        </p:spPr>
      </p:sp>
      <p:sp>
        <p:nvSpPr>
          <p:cNvPr id="5" name="Saint avatar letter"/>
          <p:cNvSpPr txBox="1"/>
          <p:nvPr/>
        </p:nvSpPr>
        <p:spPr>
          <a:xfrm>
            <a:off x="6245352" y="77724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S</a:t>
            </a:r>
            <a:endParaRPr lang="en-US" sz="1200" dirty="0"/>
          </a:p>
        </p:txBody>
      </p:sp>
      <p:sp>
        <p:nvSpPr>
          <p:cNvPr id="6" name="Chat header"/>
          <p:cNvSpPr txBox="1"/>
          <p:nvPr/>
        </p:nvSpPr>
        <p:spPr>
          <a:xfrm>
            <a:off x="6638544" y="731520"/>
            <a:ext cx="1554480" cy="411480"/>
          </a:xfrm>
          <a:prstGeom prst="rect">
            <a:avLst/>
          </a:prstGeom>
          <a:noFill/>
          <a:ln/>
        </p:spPr>
        <p:txBody>
          <a:bodyPr wrap="square" lIns="0" tIns="0" rIns="0" bIns="0" rtlCol="0" anchor="ctr"/>
          <a:lstStyle/>
          <a:p>
            <a:pPr indent="0" marL="0">
              <a:buNone/>
            </a:pPr>
            <a:r>
              <a:rPr lang="en-US" sz="1200" b="1" dirty="0">
                <a:solidFill>
                  <a:schemeClr val="tx1"/>
                </a:solidFill>
              </a:rPr>
              <a:t>Saint</a:t>
            </a:r>
            <a:endParaRPr lang="en-US" sz="1200" dirty="0"/>
          </a:p>
          <a:p>
            <a:pPr indent="0" marL="0">
              <a:buNone/>
            </a:pPr>
            <a:r>
              <a:rPr lang="en-US" sz="1000" dirty="0">
                <a:solidFill>
                  <a:schemeClr val="accent3"/>
                </a:solidFill>
              </a:rPr>
              <a:t>your dining agent</a:t>
            </a:r>
            <a:endParaRPr lang="en-US" sz="1200" dirty="0"/>
          </a:p>
        </p:txBody>
      </p:sp>
      <p:sp>
        <p:nvSpPr>
          <p:cNvPr id="7" name="User bubble"/>
          <p:cNvSpPr/>
          <p:nvPr/>
        </p:nvSpPr>
        <p:spPr>
          <a:xfrm>
            <a:off x="6611112" y="1325880"/>
            <a:ext cx="1682496" cy="749808"/>
          </a:xfrm>
          <a:prstGeom prst="roundRect">
            <a:avLst>
              <a:gd name="adj" fmla="val 14634"/>
            </a:avLst>
          </a:prstGeom>
          <a:solidFill>
            <a:schemeClr val="tx2"/>
          </a:solidFill>
          <a:ln/>
        </p:spPr>
      </p:sp>
      <p:sp>
        <p:nvSpPr>
          <p:cNvPr id="8" name="User bubble text"/>
          <p:cNvSpPr txBox="1"/>
          <p:nvPr/>
        </p:nvSpPr>
        <p:spPr>
          <a:xfrm>
            <a:off x="6702552" y="1325880"/>
            <a:ext cx="1499616" cy="749808"/>
          </a:xfrm>
          <a:prstGeom prst="rect">
            <a:avLst/>
          </a:prstGeom>
          <a:noFill/>
          <a:ln/>
        </p:spPr>
        <p:txBody>
          <a:bodyPr wrap="square" lIns="0" tIns="0" rIns="0" bIns="0" rtlCol="0" anchor="ctr"/>
          <a:lstStyle/>
          <a:p>
            <a:pPr indent="0" marL="0">
              <a:buNone/>
            </a:pPr>
            <a:r>
              <a:rPr lang="en-US" sz="1050" dirty="0">
                <a:solidFill>
                  <a:schemeClr val="bg1"/>
                </a:solidFill>
              </a:rPr>
              <a:t>Dinner tonight near Shoreditch for 2. Armando is vegan, I can't eat shellfish.</a:t>
            </a:r>
            <a:endParaRPr lang="en-US" sz="1050" dirty="0"/>
          </a:p>
        </p:txBody>
      </p:sp>
      <p:sp>
        <p:nvSpPr>
          <p:cNvPr id="9" name="Saint bubble 1"/>
          <p:cNvSpPr/>
          <p:nvPr/>
        </p:nvSpPr>
        <p:spPr>
          <a:xfrm>
            <a:off x="6199632" y="2212848"/>
            <a:ext cx="1828800" cy="1024128"/>
          </a:xfrm>
          <a:prstGeom prst="roundRect">
            <a:avLst>
              <a:gd name="adj" fmla="val 10714"/>
            </a:avLst>
          </a:prstGeom>
          <a:solidFill>
            <a:schemeClr val="bg2"/>
          </a:solidFill>
          <a:ln/>
        </p:spPr>
      </p:sp>
      <p:sp>
        <p:nvSpPr>
          <p:cNvPr id="10" name="Saint bubble 1 text"/>
          <p:cNvSpPr txBox="1"/>
          <p:nvPr/>
        </p:nvSpPr>
        <p:spPr>
          <a:xfrm>
            <a:off x="6291072" y="2212848"/>
            <a:ext cx="1645920" cy="1024128"/>
          </a:xfrm>
          <a:prstGeom prst="rect">
            <a:avLst/>
          </a:prstGeom>
          <a:noFill/>
          <a:ln/>
        </p:spPr>
        <p:txBody>
          <a:bodyPr wrap="square" lIns="0" tIns="0" rIns="0" bIns="0" rtlCol="0" anchor="ctr"/>
          <a:lstStyle/>
          <a:p>
            <a:pPr indent="0" marL="0">
              <a:buNone/>
            </a:pPr>
            <a:r>
              <a:rPr lang="en-US" sz="1050" dirty="0">
                <a:solidFill>
                  <a:schemeClr val="tx1"/>
                </a:solidFill>
              </a:rPr>
              <a:t>Unity Diner, 900 m away. Fully vegan on OpenStreetMap. I read the menu and will confirm allergens with the kitchen.</a:t>
            </a:r>
            <a:endParaRPr lang="en-US" sz="1050" dirty="0"/>
          </a:p>
        </p:txBody>
      </p:sp>
      <p:sp>
        <p:nvSpPr>
          <p:cNvPr id="11" name="Saint bubble 2"/>
          <p:cNvSpPr/>
          <p:nvPr/>
        </p:nvSpPr>
        <p:spPr>
          <a:xfrm>
            <a:off x="6199632" y="3355848"/>
            <a:ext cx="1828800" cy="411480"/>
          </a:xfrm>
          <a:prstGeom prst="roundRect">
            <a:avLst>
              <a:gd name="adj" fmla="val 26667"/>
            </a:avLst>
          </a:prstGeom>
          <a:solidFill>
            <a:schemeClr val="bg2"/>
          </a:solidFill>
          <a:ln/>
        </p:spPr>
      </p:sp>
      <p:sp>
        <p:nvSpPr>
          <p:cNvPr id="12" name="Saint bubble 2 text"/>
          <p:cNvSpPr txBox="1"/>
          <p:nvPr/>
        </p:nvSpPr>
        <p:spPr>
          <a:xfrm>
            <a:off x="6291072" y="3355848"/>
            <a:ext cx="1645920" cy="411480"/>
          </a:xfrm>
          <a:prstGeom prst="rect">
            <a:avLst/>
          </a:prstGeom>
          <a:noFill/>
          <a:ln/>
        </p:spPr>
        <p:txBody>
          <a:bodyPr wrap="square" lIns="0" tIns="0" rIns="0" bIns="0" rtlCol="0" anchor="ctr"/>
          <a:lstStyle/>
          <a:p>
            <a:pPr indent="0" marL="0">
              <a:buNone/>
            </a:pPr>
            <a:r>
              <a:rPr lang="en-US" sz="1050" dirty="0">
                <a:solidFill>
                  <a:schemeClr val="tx1"/>
                </a:solidFill>
              </a:rPr>
              <a:t>Book a table for 2 at 8pm?</a:t>
            </a:r>
            <a:endParaRPr lang="en-US" sz="1050" dirty="0"/>
          </a:p>
        </p:txBody>
      </p:sp>
      <p:sp>
        <p:nvSpPr>
          <p:cNvPr id="13" name="Yes button"/>
          <p:cNvSpPr/>
          <p:nvPr/>
        </p:nvSpPr>
        <p:spPr>
          <a:xfrm>
            <a:off x="6199632" y="3931920"/>
            <a:ext cx="987552" cy="365760"/>
          </a:xfrm>
          <a:prstGeom prst="roundRect">
            <a:avLst>
              <a:gd name="adj" fmla="val 50000"/>
            </a:avLst>
          </a:prstGeom>
          <a:solidFill>
            <a:schemeClr val="accent1"/>
          </a:solidFill>
          <a:ln/>
        </p:spPr>
      </p:sp>
      <p:sp>
        <p:nvSpPr>
          <p:cNvPr id="14" name="Yes button text"/>
          <p:cNvSpPr txBox="1"/>
          <p:nvPr/>
        </p:nvSpPr>
        <p:spPr>
          <a:xfrm>
            <a:off x="6199632" y="3931920"/>
            <a:ext cx="987552" cy="365760"/>
          </a:xfrm>
          <a:prstGeom prst="rect">
            <a:avLst/>
          </a:prstGeom>
          <a:noFill/>
          <a:ln/>
        </p:spPr>
        <p:txBody>
          <a:bodyPr wrap="square" lIns="0" tIns="0" rIns="0" bIns="0" rtlCol="0" anchor="ctr"/>
          <a:lstStyle/>
          <a:p>
            <a:pPr algn="ctr" indent="0" marL="0">
              <a:buNone/>
            </a:pPr>
            <a:r>
              <a:rPr lang="en-US" sz="1050" b="1" dirty="0">
                <a:solidFill>
                  <a:schemeClr val="tx1"/>
                </a:solidFill>
              </a:rPr>
              <a:t>Yes, book</a:t>
            </a:r>
            <a:endParaRPr lang="en-US" sz="1050" dirty="0"/>
          </a:p>
        </p:txBody>
      </p:sp>
      <p:sp>
        <p:nvSpPr>
          <p:cNvPr id="15" name="Not now button"/>
          <p:cNvSpPr/>
          <p:nvPr/>
        </p:nvSpPr>
        <p:spPr>
          <a:xfrm>
            <a:off x="7296912" y="3931920"/>
            <a:ext cx="896112" cy="365760"/>
          </a:xfrm>
          <a:prstGeom prst="roundRect">
            <a:avLst>
              <a:gd name="adj" fmla="val 50000"/>
            </a:avLst>
          </a:prstGeom>
          <a:solidFill>
            <a:schemeClr val="bg1"/>
          </a:solidFill>
          <a:ln w="9525">
            <a:solidFill>
              <a:schemeClr val="accent3"/>
            </a:solidFill>
            <a:prstDash val="solid"/>
          </a:ln>
        </p:spPr>
      </p:sp>
      <p:sp>
        <p:nvSpPr>
          <p:cNvPr id="16" name="Not now button text"/>
          <p:cNvSpPr txBox="1"/>
          <p:nvPr/>
        </p:nvSpPr>
        <p:spPr>
          <a:xfrm>
            <a:off x="7296912" y="3931920"/>
            <a:ext cx="896112" cy="365760"/>
          </a:xfrm>
          <a:prstGeom prst="rect">
            <a:avLst/>
          </a:prstGeom>
          <a:noFill/>
          <a:ln/>
        </p:spPr>
        <p:txBody>
          <a:bodyPr wrap="square" lIns="0" tIns="0" rIns="0" bIns="0" rtlCol="0" anchor="ctr"/>
          <a:lstStyle/>
          <a:p>
            <a:pPr algn="ctr" indent="0" marL="0">
              <a:buNone/>
            </a:pPr>
            <a:r>
              <a:rPr lang="en-US" sz="1050" dirty="0">
                <a:solidFill>
                  <a:schemeClr val="accent3"/>
                </a:solidFill>
              </a:rPr>
              <a:t>Not now</a:t>
            </a:r>
            <a:endParaRPr lang="en-US" sz="1050" dirty="0"/>
          </a:p>
        </p:txBody>
      </p:sp>
      <p:sp>
        <p:nvSpPr>
          <p:cNvPr id="17" name="Kicker"/>
          <p:cNvSpPr txBox="1"/>
          <p:nvPr/>
        </p:nvSpPr>
        <p:spPr>
          <a:xfrm>
            <a:off x="548640" y="411480"/>
            <a:ext cx="2743200" cy="274320"/>
          </a:xfrm>
          <a:prstGeom prst="rect">
            <a:avLst/>
          </a:prstGeom>
          <a:noFill/>
          <a:ln/>
        </p:spPr>
        <p:txBody>
          <a:bodyPr wrap="square" lIns="0" tIns="0" rIns="0" bIns="0" rtlCol="0" anchor="ctr"/>
          <a:lstStyle/>
          <a:p>
            <a:pPr indent="0" marL="0">
              <a:buNone/>
            </a:pPr>
            <a:r>
              <a:rPr lang="en-US" sz="1200" b="1" spc="400" kern="0" dirty="0">
                <a:solidFill>
                  <a:schemeClr val="accent1"/>
                </a:solidFill>
              </a:rPr>
              <a:t>LIVE DEMO</a:t>
            </a:r>
            <a:endParaRPr lang="en-US" sz="1200" dirty="0"/>
          </a:p>
        </p:txBody>
      </p:sp>
      <p:sp>
        <p:nvSpPr>
          <p:cNvPr id="18" name="Text 0"/>
          <p:cNvSpPr/>
          <p:nvPr>
            <p:ph idx="100" type="title" hasCustomPrompt="1"/>
          </p:nvPr>
        </p:nvSpPr>
        <p:spPr>
          <a:xfrm>
            <a:off x="548640" y="685800"/>
            <a:ext cx="4754880" cy="731520"/>
          </a:xfrm>
          <a:prstGeom prst="rect">
            <a:avLst/>
          </a:prstGeom>
          <a:noFill/>
          <a:ln/>
        </p:spPr>
        <p:txBody>
          <a:bodyPr wrap="square" lIns="0" tIns="0" rIns="0" bIns="0" rtlCol="0" anchor="ctr"/>
          <a:lstStyle/>
          <a:p>
            <a:pPr algn="l" indent="0" marL="0">
              <a:buNone/>
            </a:pPr>
            <a:r>
              <a:rPr lang="en-US" sz="3600" b="1" dirty="0">
                <a:solidFill>
                  <a:schemeClr val="bg1"/>
                </a:solidFill>
              </a:rPr>
              <a:t>Let's book dinner</a:t>
            </a:r>
            <a:endParaRPr lang="en-US" sz="3600" dirty="0"/>
          </a:p>
        </p:txBody>
      </p:sp>
      <p:sp>
        <p:nvSpPr>
          <p:cNvPr id="19" name="Request card"/>
          <p:cNvSpPr/>
          <p:nvPr/>
        </p:nvSpPr>
        <p:spPr>
          <a:xfrm>
            <a:off x="548640" y="1600200"/>
            <a:ext cx="4846320" cy="914400"/>
          </a:xfrm>
          <a:prstGeom prst="roundRect">
            <a:avLst>
              <a:gd name="adj" fmla="val 10000"/>
            </a:avLst>
          </a:prstGeom>
          <a:solidFill>
            <a:schemeClr val="accent2"/>
          </a:solidFill>
          <a:ln/>
        </p:spPr>
      </p:sp>
      <p:sp>
        <p:nvSpPr>
          <p:cNvPr id="20" name="Request text"/>
          <p:cNvSpPr txBox="1"/>
          <p:nvPr/>
        </p:nvSpPr>
        <p:spPr>
          <a:xfrm>
            <a:off x="777240" y="1600200"/>
            <a:ext cx="4480560" cy="914400"/>
          </a:xfrm>
          <a:prstGeom prst="rect">
            <a:avLst/>
          </a:prstGeom>
          <a:noFill/>
          <a:ln/>
        </p:spPr>
        <p:txBody>
          <a:bodyPr wrap="square" lIns="0" tIns="0" rIns="0" bIns="0" rtlCol="0" anchor="ctr"/>
          <a:lstStyle/>
          <a:p>
            <a:pPr indent="0" marL="0">
              <a:buNone/>
            </a:pPr>
            <a:r>
              <a:rPr lang="en-US" sz="1500" i="1" dirty="0">
                <a:solidFill>
                  <a:schemeClr val="bg1"/>
                </a:solidFill>
              </a:rPr>
              <a:t>“Find us dinner tonight near Shoreditch. Armando is vegan, Marco can't eat shellfish.”</a:t>
            </a:r>
            <a:endParaRPr lang="en-US" sz="1500" dirty="0"/>
          </a:p>
        </p:txBody>
      </p:sp>
      <p:sp>
        <p:nvSpPr>
          <p:cNvPr id="21" name="Watch label"/>
          <p:cNvSpPr txBox="1"/>
          <p:nvPr/>
        </p:nvSpPr>
        <p:spPr>
          <a:xfrm>
            <a:off x="548640" y="2743200"/>
            <a:ext cx="2743200" cy="274320"/>
          </a:xfrm>
          <a:prstGeom prst="rect">
            <a:avLst/>
          </a:prstGeom>
          <a:noFill/>
          <a:ln/>
        </p:spPr>
        <p:txBody>
          <a:bodyPr wrap="square" lIns="0" tIns="0" rIns="0" bIns="0" rtlCol="0" anchor="ctr"/>
          <a:lstStyle/>
          <a:p>
            <a:pPr indent="0" marL="0">
              <a:buNone/>
            </a:pPr>
            <a:r>
              <a:rPr lang="en-US" sz="1400" b="1" dirty="0">
                <a:solidFill>
                  <a:schemeClr val="accent4"/>
                </a:solidFill>
              </a:rPr>
              <a:t>Watch for</a:t>
            </a:r>
            <a:endParaRPr lang="en-US" sz="1400" dirty="0"/>
          </a:p>
        </p:txBody>
      </p:sp>
      <p:sp>
        <p:nvSpPr>
          <p:cNvPr id="22" name="Watch list"/>
          <p:cNvSpPr txBox="1"/>
          <p:nvPr/>
        </p:nvSpPr>
        <p:spPr>
          <a:xfrm>
            <a:off x="548640" y="3063240"/>
            <a:ext cx="48463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Atlas hybrid search recalls dishes it already knows</a:t>
            </a:r>
            <a:endParaRPr lang="en-US" sz="1400" dirty="0"/>
          </a:p>
          <a:p>
            <a:pPr marL="342900" indent="-342900">
              <a:spcAft>
                <a:spcPts val="600"/>
              </a:spcAft>
              <a:buSzPct val="100000"/>
              <a:buChar char="•"/>
            </a:pPr>
            <a:r>
              <a:rPr lang="en-US" sz="1400" dirty="0">
                <a:solidFill>
                  <a:schemeClr val="bg1"/>
                </a:solidFill>
              </a:rPr>
              <a:t>Google Maps + OpenStreetMap find vegan-friendly places</a:t>
            </a:r>
            <a:endParaRPr lang="en-US" sz="1400" dirty="0"/>
          </a:p>
          <a:p>
            <a:pPr marL="342900" indent="-342900">
              <a:spcAft>
                <a:spcPts val="600"/>
              </a:spcAft>
              <a:buSzPct val="100000"/>
              <a:buChar char="•"/>
            </a:pPr>
            <a:r>
              <a:rPr lang="en-US" sz="1400" dirty="0">
                <a:solidFill>
                  <a:schemeClr val="bg1"/>
                </a:solidFill>
              </a:rPr>
              <a:t>Menus read and checked against 14 allergens</a:t>
            </a:r>
            <a:endParaRPr lang="en-US" sz="1400" dirty="0"/>
          </a:p>
          <a:p>
            <a:pPr marL="342900" indent="-342900">
              <a:spcAft>
                <a:spcPts val="600"/>
              </a:spcAft>
              <a:buSzPct val="100000"/>
              <a:buChar char="•"/>
            </a:pPr>
            <a:r>
              <a:rPr lang="en-US" sz="1400" dirty="0">
                <a:solidFill>
                  <a:schemeClr val="bg1"/>
                </a:solidFill>
              </a:rPr>
              <a:t>Saint asks before it books</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MongoDB Atlas is the shared brain</a:t>
            </a:r>
            <a:endParaRPr lang="en-US" sz="3200" dirty="0"/>
          </a:p>
        </p:txBody>
      </p:sp>
      <p:sp>
        <p:nvSpPr>
          <p:cNvPr id="3" name="Subtitle"/>
          <p:cNvSpPr txBox="1"/>
          <p:nvPr/>
        </p:nvSpPr>
        <p:spPr>
          <a:xfrm>
            <a:off x="548640" y="1024128"/>
            <a:ext cx="8046720" cy="274320"/>
          </a:xfrm>
          <a:prstGeom prst="rect">
            <a:avLst/>
          </a:prstGeom>
          <a:noFill/>
          <a:ln/>
        </p:spPr>
        <p:txBody>
          <a:bodyPr wrap="square" lIns="0" tIns="0" rIns="0" bIns="0" rtlCol="0" anchor="ctr"/>
          <a:lstStyle/>
          <a:p>
            <a:pPr indent="0" marL="0">
              <a:buNone/>
            </a:pPr>
            <a:r>
              <a:rPr lang="en-US" sz="1400" dirty="0">
                <a:solidFill>
                  <a:schemeClr val="accent3"/>
                </a:solidFill>
              </a:rPr>
              <a:t>One platform for data, search, embeddings and reranking. No stitching.</a:t>
            </a:r>
            <a:endParaRPr lang="en-US" sz="1400" dirty="0"/>
          </a:p>
        </p:txBody>
      </p:sp>
      <p:sp>
        <p:nvSpPr>
          <p:cNvPr id="4" name="Pipeline step 1"/>
          <p:cNvSpPr/>
          <p:nvPr/>
        </p:nvSpPr>
        <p:spPr>
          <a:xfrm>
            <a:off x="548640" y="1463040"/>
            <a:ext cx="1325880" cy="566928"/>
          </a:xfrm>
          <a:prstGeom prst="roundRect">
            <a:avLst>
              <a:gd name="adj" fmla="val 16129"/>
            </a:avLst>
          </a:prstGeom>
          <a:solidFill>
            <a:schemeClr val="tx2"/>
          </a:solidFill>
          <a:ln/>
        </p:spPr>
      </p:sp>
      <p:sp>
        <p:nvSpPr>
          <p:cNvPr id="5" name="Pipeline label 1"/>
          <p:cNvSpPr txBox="1"/>
          <p:nvPr/>
        </p:nvSpPr>
        <p:spPr>
          <a:xfrm>
            <a:off x="548640" y="1463040"/>
            <a:ext cx="1325880" cy="566928"/>
          </a:xfrm>
          <a:prstGeom prst="rect">
            <a:avLst/>
          </a:prstGeom>
          <a:noFill/>
          <a:ln/>
        </p:spPr>
        <p:txBody>
          <a:bodyPr wrap="square" lIns="0" tIns="0" rIns="0" bIns="0" rtlCol="0" anchor="ctr"/>
          <a:lstStyle/>
          <a:p>
            <a:pPr algn="ctr" indent="0" marL="0">
              <a:buNone/>
            </a:pPr>
            <a:r>
              <a:rPr lang="en-US" sz="1100" b="1" dirty="0">
                <a:solidFill>
                  <a:schemeClr val="bg1"/>
                </a:solidFill>
              </a:rPr>
              <a:t>Menu read</a:t>
            </a:r>
            <a:endParaRPr lang="en-US" sz="1100" dirty="0"/>
          </a:p>
        </p:txBody>
      </p:sp>
      <p:pic>
        <p:nvPicPr>
          <p:cNvPr id="6" name="Pipeline arrow 1" descr="then">    </p:cNvPr>
          <p:cNvPicPr>
            <a:picLocks noChangeAspect="1"/>
          </p:cNvPicPr>
          <p:nvPr/>
        </p:nvPicPr>
        <p:blipFill>
          <a:blip r:embed="rId1"/>
          <a:stretch>
            <a:fillRect/>
          </a:stretch>
        </p:blipFill>
        <p:spPr>
          <a:xfrm>
            <a:off x="1938528" y="1645920"/>
            <a:ext cx="201168" cy="201168"/>
          </a:xfrm>
          <a:prstGeom prst="rect">
            <a:avLst/>
          </a:prstGeom>
        </p:spPr>
      </p:pic>
      <p:sp>
        <p:nvSpPr>
          <p:cNvPr id="7" name="Pipeline step 2"/>
          <p:cNvSpPr/>
          <p:nvPr/>
        </p:nvSpPr>
        <p:spPr>
          <a:xfrm>
            <a:off x="2194560" y="1463040"/>
            <a:ext cx="1325880" cy="566928"/>
          </a:xfrm>
          <a:prstGeom prst="roundRect">
            <a:avLst>
              <a:gd name="adj" fmla="val 16129"/>
            </a:avLst>
          </a:prstGeom>
          <a:solidFill>
            <a:schemeClr val="tx2"/>
          </a:solidFill>
          <a:ln/>
        </p:spPr>
      </p:sp>
      <p:sp>
        <p:nvSpPr>
          <p:cNvPr id="8" name="Pipeline label 2"/>
          <p:cNvSpPr txBox="1"/>
          <p:nvPr/>
        </p:nvSpPr>
        <p:spPr>
          <a:xfrm>
            <a:off x="2194560" y="1463040"/>
            <a:ext cx="1325880" cy="566928"/>
          </a:xfrm>
          <a:prstGeom prst="rect">
            <a:avLst/>
          </a:prstGeom>
          <a:noFill/>
          <a:ln/>
        </p:spPr>
        <p:txBody>
          <a:bodyPr wrap="square" lIns="0" tIns="0" rIns="0" bIns="0" rtlCol="0" anchor="ctr"/>
          <a:lstStyle/>
          <a:p>
            <a:pPr algn="ctr" indent="0" marL="0">
              <a:buNone/>
            </a:pPr>
            <a:r>
              <a:rPr lang="en-US" sz="1100" b="1" dirty="0">
                <a:solidFill>
                  <a:schemeClr val="bg1"/>
                </a:solidFill>
              </a:rPr>
              <a:t>Auto-embed</a:t>
            </a:r>
            <a:endParaRPr lang="en-US" sz="1100" dirty="0"/>
          </a:p>
          <a:p>
            <a:pPr algn="ctr" indent="0" marL="0">
              <a:buNone/>
            </a:pPr>
            <a:r>
              <a:rPr lang="en-US" sz="1100" b="1" dirty="0">
                <a:solidFill>
                  <a:schemeClr val="bg1"/>
                </a:solidFill>
              </a:rPr>
              <a:t>voyage-4</a:t>
            </a:r>
            <a:endParaRPr lang="en-US" sz="1100" dirty="0"/>
          </a:p>
        </p:txBody>
      </p:sp>
      <p:pic>
        <p:nvPicPr>
          <p:cNvPr id="9" name="Pipeline arrow 2" descr="then">    </p:cNvPr>
          <p:cNvPicPr>
            <a:picLocks noChangeAspect="1"/>
          </p:cNvPicPr>
          <p:nvPr/>
        </p:nvPicPr>
        <p:blipFill>
          <a:blip r:embed="rId2"/>
          <a:stretch>
            <a:fillRect/>
          </a:stretch>
        </p:blipFill>
        <p:spPr>
          <a:xfrm>
            <a:off x="3584448" y="1645920"/>
            <a:ext cx="201168" cy="201168"/>
          </a:xfrm>
          <a:prstGeom prst="rect">
            <a:avLst/>
          </a:prstGeom>
        </p:spPr>
      </p:pic>
      <p:sp>
        <p:nvSpPr>
          <p:cNvPr id="10" name="Pipeline step 3"/>
          <p:cNvSpPr/>
          <p:nvPr/>
        </p:nvSpPr>
        <p:spPr>
          <a:xfrm>
            <a:off x="3840480" y="1463040"/>
            <a:ext cx="1325880" cy="566928"/>
          </a:xfrm>
          <a:prstGeom prst="roundRect">
            <a:avLst>
              <a:gd name="adj" fmla="val 16129"/>
            </a:avLst>
          </a:prstGeom>
          <a:solidFill>
            <a:schemeClr val="tx2"/>
          </a:solidFill>
          <a:ln/>
        </p:spPr>
      </p:sp>
      <p:sp>
        <p:nvSpPr>
          <p:cNvPr id="11" name="Pipeline label 3"/>
          <p:cNvSpPr txBox="1"/>
          <p:nvPr/>
        </p:nvSpPr>
        <p:spPr>
          <a:xfrm>
            <a:off x="3840480" y="1463040"/>
            <a:ext cx="1325880" cy="566928"/>
          </a:xfrm>
          <a:prstGeom prst="rect">
            <a:avLst/>
          </a:prstGeom>
          <a:noFill/>
          <a:ln/>
        </p:spPr>
        <p:txBody>
          <a:bodyPr wrap="square" lIns="0" tIns="0" rIns="0" bIns="0" rtlCol="0" anchor="ctr"/>
          <a:lstStyle/>
          <a:p>
            <a:pPr algn="ctr" indent="0" marL="0">
              <a:buNone/>
            </a:pPr>
            <a:r>
              <a:rPr lang="en-US" sz="1100" b="1" dirty="0">
                <a:solidFill>
                  <a:schemeClr val="bg1"/>
                </a:solidFill>
              </a:rPr>
              <a:t>Text + vector</a:t>
            </a:r>
            <a:endParaRPr lang="en-US" sz="1100" dirty="0"/>
          </a:p>
          <a:p>
            <a:pPr algn="ctr" indent="0" marL="0">
              <a:buNone/>
            </a:pPr>
            <a:r>
              <a:rPr lang="en-US" sz="1100" b="1" dirty="0">
                <a:solidFill>
                  <a:schemeClr val="bg1"/>
                </a:solidFill>
              </a:rPr>
              <a:t>$rankFusion</a:t>
            </a:r>
            <a:endParaRPr lang="en-US" sz="1100" dirty="0"/>
          </a:p>
        </p:txBody>
      </p:sp>
      <p:pic>
        <p:nvPicPr>
          <p:cNvPr id="12" name="Pipeline arrow 3" descr="then">    </p:cNvPr>
          <p:cNvPicPr>
            <a:picLocks noChangeAspect="1"/>
          </p:cNvPicPr>
          <p:nvPr/>
        </p:nvPicPr>
        <p:blipFill>
          <a:blip r:embed="rId3"/>
          <a:stretch>
            <a:fillRect/>
          </a:stretch>
        </p:blipFill>
        <p:spPr>
          <a:xfrm>
            <a:off x="5230368" y="1645920"/>
            <a:ext cx="201168" cy="201168"/>
          </a:xfrm>
          <a:prstGeom prst="rect">
            <a:avLst/>
          </a:prstGeom>
        </p:spPr>
      </p:pic>
      <p:sp>
        <p:nvSpPr>
          <p:cNvPr id="13" name="Pipeline step 4"/>
          <p:cNvSpPr/>
          <p:nvPr/>
        </p:nvSpPr>
        <p:spPr>
          <a:xfrm>
            <a:off x="5486400" y="1463040"/>
            <a:ext cx="1325880" cy="566928"/>
          </a:xfrm>
          <a:prstGeom prst="roundRect">
            <a:avLst>
              <a:gd name="adj" fmla="val 16129"/>
            </a:avLst>
          </a:prstGeom>
          <a:solidFill>
            <a:schemeClr val="tx2"/>
          </a:solidFill>
          <a:ln/>
        </p:spPr>
      </p:sp>
      <p:sp>
        <p:nvSpPr>
          <p:cNvPr id="14" name="Pipeline label 4"/>
          <p:cNvSpPr txBox="1"/>
          <p:nvPr/>
        </p:nvSpPr>
        <p:spPr>
          <a:xfrm>
            <a:off x="5486400" y="1463040"/>
            <a:ext cx="1325880" cy="566928"/>
          </a:xfrm>
          <a:prstGeom prst="rect">
            <a:avLst/>
          </a:prstGeom>
          <a:noFill/>
          <a:ln/>
        </p:spPr>
        <p:txBody>
          <a:bodyPr wrap="square" lIns="0" tIns="0" rIns="0" bIns="0" rtlCol="0" anchor="ctr"/>
          <a:lstStyle/>
          <a:p>
            <a:pPr algn="ctr" indent="0" marL="0">
              <a:buNone/>
            </a:pPr>
            <a:r>
              <a:rPr lang="en-US" sz="1100" b="1" dirty="0">
                <a:solidFill>
                  <a:schemeClr val="bg1"/>
                </a:solidFill>
              </a:rPr>
              <a:t>Voyage</a:t>
            </a:r>
            <a:endParaRPr lang="en-US" sz="1100" dirty="0"/>
          </a:p>
          <a:p>
            <a:pPr algn="ctr" indent="0" marL="0">
              <a:buNone/>
            </a:pPr>
            <a:r>
              <a:rPr lang="en-US" sz="1100" b="1" dirty="0">
                <a:solidFill>
                  <a:schemeClr val="bg1"/>
                </a:solidFill>
              </a:rPr>
              <a:t>rerank</a:t>
            </a:r>
            <a:endParaRPr lang="en-US" sz="1100" dirty="0"/>
          </a:p>
        </p:txBody>
      </p:sp>
      <p:pic>
        <p:nvPicPr>
          <p:cNvPr id="15" name="Pipeline arrow 4" descr="then">    </p:cNvPr>
          <p:cNvPicPr>
            <a:picLocks noChangeAspect="1"/>
          </p:cNvPicPr>
          <p:nvPr/>
        </p:nvPicPr>
        <p:blipFill>
          <a:blip r:embed="rId4"/>
          <a:stretch>
            <a:fillRect/>
          </a:stretch>
        </p:blipFill>
        <p:spPr>
          <a:xfrm>
            <a:off x="6876288" y="1645920"/>
            <a:ext cx="201168" cy="201168"/>
          </a:xfrm>
          <a:prstGeom prst="rect">
            <a:avLst/>
          </a:prstGeom>
        </p:spPr>
      </p:pic>
      <p:sp>
        <p:nvSpPr>
          <p:cNvPr id="16" name="Pipeline step 5"/>
          <p:cNvSpPr/>
          <p:nvPr/>
        </p:nvSpPr>
        <p:spPr>
          <a:xfrm>
            <a:off x="7132320" y="1463040"/>
            <a:ext cx="1325880" cy="566928"/>
          </a:xfrm>
          <a:prstGeom prst="roundRect">
            <a:avLst>
              <a:gd name="adj" fmla="val 16129"/>
            </a:avLst>
          </a:prstGeom>
          <a:solidFill>
            <a:schemeClr val="accent1"/>
          </a:solidFill>
          <a:ln/>
        </p:spPr>
      </p:sp>
      <p:sp>
        <p:nvSpPr>
          <p:cNvPr id="17" name="Pipeline label 5"/>
          <p:cNvSpPr txBox="1"/>
          <p:nvPr/>
        </p:nvSpPr>
        <p:spPr>
          <a:xfrm>
            <a:off x="7132320" y="1463040"/>
            <a:ext cx="1325880" cy="566928"/>
          </a:xfrm>
          <a:prstGeom prst="rect">
            <a:avLst/>
          </a:prstGeom>
          <a:noFill/>
          <a:ln/>
        </p:spPr>
        <p:txBody>
          <a:bodyPr wrap="square" lIns="0" tIns="0" rIns="0" bIns="0" rtlCol="0" anchor="ctr"/>
          <a:lstStyle/>
          <a:p>
            <a:pPr algn="ctr" indent="0" marL="0">
              <a:buNone/>
            </a:pPr>
            <a:r>
              <a:rPr lang="en-US" sz="1100" b="1" dirty="0">
                <a:solidFill>
                  <a:schemeClr val="tx1"/>
                </a:solidFill>
              </a:rPr>
              <a:t>Grounded</a:t>
            </a:r>
            <a:endParaRPr lang="en-US" sz="1100" dirty="0"/>
          </a:p>
          <a:p>
            <a:pPr algn="ctr" indent="0" marL="0">
              <a:buNone/>
            </a:pPr>
            <a:r>
              <a:rPr lang="en-US" sz="1100" b="1" dirty="0">
                <a:solidFill>
                  <a:schemeClr val="tx1"/>
                </a:solidFill>
              </a:rPr>
              <a:t>answer</a:t>
            </a:r>
            <a:endParaRPr lang="en-US" sz="1100" dirty="0"/>
          </a:p>
        </p:txBody>
      </p:sp>
      <p:sp>
        <p:nvSpPr>
          <p:cNvPr id="18" name="Feature card 1"/>
          <p:cNvSpPr/>
          <p:nvPr/>
        </p:nvSpPr>
        <p:spPr>
          <a:xfrm>
            <a:off x="548640" y="2286000"/>
            <a:ext cx="2743200" cy="640080"/>
          </a:xfrm>
          <a:prstGeom prst="roundRect">
            <a:avLst>
              <a:gd name="adj" fmla="val 14286"/>
            </a:avLst>
          </a:prstGeom>
          <a:solidFill>
            <a:schemeClr val="bg2"/>
          </a:solidFill>
          <a:ln/>
        </p:spPr>
      </p:sp>
      <p:sp>
        <p:nvSpPr>
          <p:cNvPr id="19" name="Feature circle 1"/>
          <p:cNvSpPr/>
          <p:nvPr/>
        </p:nvSpPr>
        <p:spPr>
          <a:xfrm>
            <a:off x="685800" y="2414016"/>
            <a:ext cx="384048" cy="384048"/>
          </a:xfrm>
          <a:prstGeom prst="ellipse">
            <a:avLst/>
          </a:prstGeom>
          <a:solidFill>
            <a:schemeClr val="accent1"/>
          </a:solidFill>
          <a:ln/>
        </p:spPr>
      </p:sp>
      <p:pic>
        <p:nvPicPr>
          <p:cNvPr id="20" name="Feature icon 1" descr="Atlas Search icon">    </p:cNvPr>
          <p:cNvPicPr>
            <a:picLocks noChangeAspect="1"/>
          </p:cNvPicPr>
          <p:nvPr/>
        </p:nvPicPr>
        <p:blipFill>
          <a:blip r:embed="rId5"/>
          <a:stretch>
            <a:fillRect/>
          </a:stretch>
        </p:blipFill>
        <p:spPr>
          <a:xfrm>
            <a:off x="781812" y="2510028"/>
            <a:ext cx="192024" cy="192024"/>
          </a:xfrm>
          <a:prstGeom prst="rect">
            <a:avLst/>
          </a:prstGeom>
        </p:spPr>
      </p:pic>
      <p:sp>
        <p:nvSpPr>
          <p:cNvPr id="21" name="Feature name 1"/>
          <p:cNvSpPr txBox="1"/>
          <p:nvPr/>
        </p:nvSpPr>
        <p:spPr>
          <a:xfrm>
            <a:off x="1188720" y="2359152"/>
            <a:ext cx="2057400" cy="256032"/>
          </a:xfrm>
          <a:prstGeom prst="rect">
            <a:avLst/>
          </a:prstGeom>
          <a:noFill/>
          <a:ln/>
        </p:spPr>
        <p:txBody>
          <a:bodyPr wrap="square" lIns="0" tIns="0" rIns="0" bIns="0" rtlCol="0" anchor="ctr"/>
          <a:lstStyle/>
          <a:p>
            <a:pPr indent="0" marL="0">
              <a:buNone/>
            </a:pPr>
            <a:r>
              <a:rPr lang="en-US" sz="1300" b="1" dirty="0">
                <a:solidFill>
                  <a:schemeClr val="tx1"/>
                </a:solidFill>
              </a:rPr>
              <a:t>Atlas Search</a:t>
            </a:r>
            <a:endParaRPr lang="en-US" sz="1300" dirty="0"/>
          </a:p>
        </p:txBody>
      </p:sp>
      <p:sp>
        <p:nvSpPr>
          <p:cNvPr id="22" name="Feature text 1"/>
          <p:cNvSpPr txBox="1"/>
          <p:nvPr/>
        </p:nvSpPr>
        <p:spPr>
          <a:xfrm>
            <a:off x="1188720" y="2615184"/>
            <a:ext cx="2057400" cy="237744"/>
          </a:xfrm>
          <a:prstGeom prst="rect">
            <a:avLst/>
          </a:prstGeom>
          <a:noFill/>
          <a:ln/>
        </p:spPr>
        <p:txBody>
          <a:bodyPr wrap="square" lIns="0" tIns="0" rIns="0" bIns="0" rtlCol="0" anchor="ctr"/>
          <a:lstStyle/>
          <a:p>
            <a:pPr indent="0" marL="0">
              <a:buNone/>
            </a:pPr>
            <a:r>
              <a:rPr lang="en-US" sz="1100" dirty="0">
                <a:solidFill>
                  <a:schemeClr val="accent3"/>
                </a:solidFill>
              </a:rPr>
              <a:t>Exact words: prawn, gluten</a:t>
            </a:r>
            <a:endParaRPr lang="en-US" sz="1100" dirty="0"/>
          </a:p>
        </p:txBody>
      </p:sp>
      <p:sp>
        <p:nvSpPr>
          <p:cNvPr id="23" name="Feature card 2"/>
          <p:cNvSpPr/>
          <p:nvPr/>
        </p:nvSpPr>
        <p:spPr>
          <a:xfrm>
            <a:off x="3429000" y="2286000"/>
            <a:ext cx="2743200" cy="640080"/>
          </a:xfrm>
          <a:prstGeom prst="roundRect">
            <a:avLst>
              <a:gd name="adj" fmla="val 14286"/>
            </a:avLst>
          </a:prstGeom>
          <a:solidFill>
            <a:schemeClr val="bg2"/>
          </a:solidFill>
          <a:ln/>
        </p:spPr>
      </p:sp>
      <p:sp>
        <p:nvSpPr>
          <p:cNvPr id="24" name="Feature circle 2"/>
          <p:cNvSpPr/>
          <p:nvPr/>
        </p:nvSpPr>
        <p:spPr>
          <a:xfrm>
            <a:off x="3566160" y="2414016"/>
            <a:ext cx="384048" cy="384048"/>
          </a:xfrm>
          <a:prstGeom prst="ellipse">
            <a:avLst/>
          </a:prstGeom>
          <a:solidFill>
            <a:schemeClr val="accent1"/>
          </a:solidFill>
          <a:ln/>
        </p:spPr>
      </p:sp>
      <p:pic>
        <p:nvPicPr>
          <p:cNvPr id="25" name="Feature icon 2" descr="Vector Search icon">    </p:cNvPr>
          <p:cNvPicPr>
            <a:picLocks noChangeAspect="1"/>
          </p:cNvPicPr>
          <p:nvPr/>
        </p:nvPicPr>
        <p:blipFill>
          <a:blip r:embed="rId6"/>
          <a:stretch>
            <a:fillRect/>
          </a:stretch>
        </p:blipFill>
        <p:spPr>
          <a:xfrm>
            <a:off x="3662172" y="2510028"/>
            <a:ext cx="192024" cy="192024"/>
          </a:xfrm>
          <a:prstGeom prst="rect">
            <a:avLst/>
          </a:prstGeom>
        </p:spPr>
      </p:pic>
      <p:sp>
        <p:nvSpPr>
          <p:cNvPr id="26" name="Feature name 2"/>
          <p:cNvSpPr txBox="1"/>
          <p:nvPr/>
        </p:nvSpPr>
        <p:spPr>
          <a:xfrm>
            <a:off x="4069080" y="2359152"/>
            <a:ext cx="2057400" cy="256032"/>
          </a:xfrm>
          <a:prstGeom prst="rect">
            <a:avLst/>
          </a:prstGeom>
          <a:noFill/>
          <a:ln/>
        </p:spPr>
        <p:txBody>
          <a:bodyPr wrap="square" lIns="0" tIns="0" rIns="0" bIns="0" rtlCol="0" anchor="ctr"/>
          <a:lstStyle/>
          <a:p>
            <a:pPr indent="0" marL="0">
              <a:buNone/>
            </a:pPr>
            <a:r>
              <a:rPr lang="en-US" sz="1300" b="1" dirty="0">
                <a:solidFill>
                  <a:schemeClr val="tx1"/>
                </a:solidFill>
              </a:rPr>
              <a:t>Vector Search</a:t>
            </a:r>
            <a:endParaRPr lang="en-US" sz="1300" dirty="0"/>
          </a:p>
        </p:txBody>
      </p:sp>
      <p:sp>
        <p:nvSpPr>
          <p:cNvPr id="27" name="Feature text 2"/>
          <p:cNvSpPr txBox="1"/>
          <p:nvPr/>
        </p:nvSpPr>
        <p:spPr>
          <a:xfrm>
            <a:off x="4069080" y="2615184"/>
            <a:ext cx="2057400" cy="237744"/>
          </a:xfrm>
          <a:prstGeom prst="rect">
            <a:avLst/>
          </a:prstGeom>
          <a:noFill/>
          <a:ln/>
        </p:spPr>
        <p:txBody>
          <a:bodyPr wrap="square" lIns="0" tIns="0" rIns="0" bIns="0" rtlCol="0" anchor="ctr"/>
          <a:lstStyle/>
          <a:p>
            <a:pPr indent="0" marL="0">
              <a:buNone/>
            </a:pPr>
            <a:r>
              <a:rPr lang="en-US" sz="1100" dirty="0">
                <a:solidFill>
                  <a:schemeClr val="accent3"/>
                </a:solidFill>
              </a:rPr>
              <a:t>Finds dishes by meaning</a:t>
            </a:r>
            <a:endParaRPr lang="en-US" sz="1100" dirty="0"/>
          </a:p>
        </p:txBody>
      </p:sp>
      <p:sp>
        <p:nvSpPr>
          <p:cNvPr id="28" name="Feature card 3"/>
          <p:cNvSpPr/>
          <p:nvPr/>
        </p:nvSpPr>
        <p:spPr>
          <a:xfrm>
            <a:off x="548640" y="3035808"/>
            <a:ext cx="2743200" cy="640080"/>
          </a:xfrm>
          <a:prstGeom prst="roundRect">
            <a:avLst>
              <a:gd name="adj" fmla="val 14286"/>
            </a:avLst>
          </a:prstGeom>
          <a:solidFill>
            <a:schemeClr val="bg2"/>
          </a:solidFill>
          <a:ln/>
        </p:spPr>
      </p:sp>
      <p:sp>
        <p:nvSpPr>
          <p:cNvPr id="29" name="Feature circle 3"/>
          <p:cNvSpPr/>
          <p:nvPr/>
        </p:nvSpPr>
        <p:spPr>
          <a:xfrm>
            <a:off x="685800" y="3163824"/>
            <a:ext cx="384048" cy="384048"/>
          </a:xfrm>
          <a:prstGeom prst="ellipse">
            <a:avLst/>
          </a:prstGeom>
          <a:solidFill>
            <a:schemeClr val="accent1"/>
          </a:solidFill>
          <a:ln/>
        </p:spPr>
      </p:sp>
      <p:pic>
        <p:nvPicPr>
          <p:cNvPr id="30" name="Feature icon 3" descr="Automated Embedding icon">    </p:cNvPr>
          <p:cNvPicPr>
            <a:picLocks noChangeAspect="1"/>
          </p:cNvPicPr>
          <p:nvPr/>
        </p:nvPicPr>
        <p:blipFill>
          <a:blip r:embed="rId7"/>
          <a:stretch>
            <a:fillRect/>
          </a:stretch>
        </p:blipFill>
        <p:spPr>
          <a:xfrm>
            <a:off x="781812" y="3259836"/>
            <a:ext cx="192024" cy="192024"/>
          </a:xfrm>
          <a:prstGeom prst="rect">
            <a:avLst/>
          </a:prstGeom>
        </p:spPr>
      </p:pic>
      <p:sp>
        <p:nvSpPr>
          <p:cNvPr id="31" name="Feature name 3"/>
          <p:cNvSpPr txBox="1"/>
          <p:nvPr/>
        </p:nvSpPr>
        <p:spPr>
          <a:xfrm>
            <a:off x="1188720" y="3108960"/>
            <a:ext cx="2057400" cy="256032"/>
          </a:xfrm>
          <a:prstGeom prst="rect">
            <a:avLst/>
          </a:prstGeom>
          <a:noFill/>
          <a:ln/>
        </p:spPr>
        <p:txBody>
          <a:bodyPr wrap="square" lIns="0" tIns="0" rIns="0" bIns="0" rtlCol="0" anchor="ctr"/>
          <a:lstStyle/>
          <a:p>
            <a:pPr indent="0" marL="0">
              <a:buNone/>
            </a:pPr>
            <a:r>
              <a:rPr lang="en-US" sz="1300" b="1" dirty="0">
                <a:solidFill>
                  <a:schemeClr val="tx1"/>
                </a:solidFill>
              </a:rPr>
              <a:t>Automated Embedding</a:t>
            </a:r>
            <a:endParaRPr lang="en-US" sz="1300" dirty="0"/>
          </a:p>
        </p:txBody>
      </p:sp>
      <p:sp>
        <p:nvSpPr>
          <p:cNvPr id="32" name="Feature text 3"/>
          <p:cNvSpPr txBox="1"/>
          <p:nvPr/>
        </p:nvSpPr>
        <p:spPr>
          <a:xfrm>
            <a:off x="1188720" y="3364992"/>
            <a:ext cx="2057400" cy="237744"/>
          </a:xfrm>
          <a:prstGeom prst="rect">
            <a:avLst/>
          </a:prstGeom>
          <a:noFill/>
          <a:ln/>
        </p:spPr>
        <p:txBody>
          <a:bodyPr wrap="square" lIns="0" tIns="0" rIns="0" bIns="0" rtlCol="0" anchor="ctr"/>
          <a:lstStyle/>
          <a:p>
            <a:pPr indent="0" marL="0">
              <a:buNone/>
            </a:pPr>
            <a:r>
              <a:rPr lang="en-US" sz="1100" dirty="0">
                <a:solidFill>
                  <a:schemeClr val="accent3"/>
                </a:solidFill>
              </a:rPr>
              <a:t>Atlas embeds every dish itself</a:t>
            </a:r>
            <a:endParaRPr lang="en-US" sz="1100" dirty="0"/>
          </a:p>
        </p:txBody>
      </p:sp>
      <p:sp>
        <p:nvSpPr>
          <p:cNvPr id="33" name="Feature card 4"/>
          <p:cNvSpPr/>
          <p:nvPr/>
        </p:nvSpPr>
        <p:spPr>
          <a:xfrm>
            <a:off x="3429000" y="3035808"/>
            <a:ext cx="2743200" cy="640080"/>
          </a:xfrm>
          <a:prstGeom prst="roundRect">
            <a:avLst>
              <a:gd name="adj" fmla="val 14286"/>
            </a:avLst>
          </a:prstGeom>
          <a:solidFill>
            <a:schemeClr val="bg2"/>
          </a:solidFill>
          <a:ln/>
        </p:spPr>
      </p:sp>
      <p:sp>
        <p:nvSpPr>
          <p:cNvPr id="34" name="Feature circle 4"/>
          <p:cNvSpPr/>
          <p:nvPr/>
        </p:nvSpPr>
        <p:spPr>
          <a:xfrm>
            <a:off x="3566160" y="3163824"/>
            <a:ext cx="384048" cy="384048"/>
          </a:xfrm>
          <a:prstGeom prst="ellipse">
            <a:avLst/>
          </a:prstGeom>
          <a:solidFill>
            <a:schemeClr val="accent1"/>
          </a:solidFill>
          <a:ln/>
        </p:spPr>
      </p:sp>
      <p:pic>
        <p:nvPicPr>
          <p:cNvPr id="35" name="Feature icon 4" descr="Hybrid Search icon">    </p:cNvPr>
          <p:cNvPicPr>
            <a:picLocks noChangeAspect="1"/>
          </p:cNvPicPr>
          <p:nvPr/>
        </p:nvPicPr>
        <p:blipFill>
          <a:blip r:embed="rId8"/>
          <a:stretch>
            <a:fillRect/>
          </a:stretch>
        </p:blipFill>
        <p:spPr>
          <a:xfrm>
            <a:off x="3662172" y="3259836"/>
            <a:ext cx="192024" cy="192024"/>
          </a:xfrm>
          <a:prstGeom prst="rect">
            <a:avLst/>
          </a:prstGeom>
        </p:spPr>
      </p:pic>
      <p:sp>
        <p:nvSpPr>
          <p:cNvPr id="36" name="Feature name 4"/>
          <p:cNvSpPr txBox="1"/>
          <p:nvPr/>
        </p:nvSpPr>
        <p:spPr>
          <a:xfrm>
            <a:off x="4069080" y="3108960"/>
            <a:ext cx="2057400" cy="256032"/>
          </a:xfrm>
          <a:prstGeom prst="rect">
            <a:avLst/>
          </a:prstGeom>
          <a:noFill/>
          <a:ln/>
        </p:spPr>
        <p:txBody>
          <a:bodyPr wrap="square" lIns="0" tIns="0" rIns="0" bIns="0" rtlCol="0" anchor="ctr"/>
          <a:lstStyle/>
          <a:p>
            <a:pPr indent="0" marL="0">
              <a:buNone/>
            </a:pPr>
            <a:r>
              <a:rPr lang="en-US" sz="1300" b="1" dirty="0">
                <a:solidFill>
                  <a:schemeClr val="tx1"/>
                </a:solidFill>
              </a:rPr>
              <a:t>Hybrid Search</a:t>
            </a:r>
            <a:endParaRPr lang="en-US" sz="1300" dirty="0"/>
          </a:p>
        </p:txBody>
      </p:sp>
      <p:sp>
        <p:nvSpPr>
          <p:cNvPr id="37" name="Feature text 4"/>
          <p:cNvSpPr txBox="1"/>
          <p:nvPr/>
        </p:nvSpPr>
        <p:spPr>
          <a:xfrm>
            <a:off x="4069080" y="3364992"/>
            <a:ext cx="2057400" cy="237744"/>
          </a:xfrm>
          <a:prstGeom prst="rect">
            <a:avLst/>
          </a:prstGeom>
          <a:noFill/>
          <a:ln/>
        </p:spPr>
        <p:txBody>
          <a:bodyPr wrap="square" lIns="0" tIns="0" rIns="0" bIns="0" rtlCol="0" anchor="ctr"/>
          <a:lstStyle/>
          <a:p>
            <a:pPr indent="0" marL="0">
              <a:buNone/>
            </a:pPr>
            <a:r>
              <a:rPr lang="en-US" sz="1100" dirty="0">
                <a:solidFill>
                  <a:schemeClr val="accent3"/>
                </a:solidFill>
              </a:rPr>
              <a:t>$rankFusion, allergens out</a:t>
            </a:r>
            <a:endParaRPr lang="en-US" sz="1100" dirty="0"/>
          </a:p>
        </p:txBody>
      </p:sp>
      <p:sp>
        <p:nvSpPr>
          <p:cNvPr id="38" name="Feature card 5"/>
          <p:cNvSpPr/>
          <p:nvPr/>
        </p:nvSpPr>
        <p:spPr>
          <a:xfrm>
            <a:off x="548640" y="3785616"/>
            <a:ext cx="2743200" cy="640080"/>
          </a:xfrm>
          <a:prstGeom prst="roundRect">
            <a:avLst>
              <a:gd name="adj" fmla="val 14286"/>
            </a:avLst>
          </a:prstGeom>
          <a:solidFill>
            <a:schemeClr val="bg2"/>
          </a:solidFill>
          <a:ln/>
        </p:spPr>
      </p:sp>
      <p:sp>
        <p:nvSpPr>
          <p:cNvPr id="39" name="Feature circle 5"/>
          <p:cNvSpPr/>
          <p:nvPr/>
        </p:nvSpPr>
        <p:spPr>
          <a:xfrm>
            <a:off x="685800" y="3913632"/>
            <a:ext cx="384048" cy="384048"/>
          </a:xfrm>
          <a:prstGeom prst="ellipse">
            <a:avLst/>
          </a:prstGeom>
          <a:solidFill>
            <a:schemeClr val="accent1"/>
          </a:solidFill>
          <a:ln/>
        </p:spPr>
      </p:sp>
      <p:pic>
        <p:nvPicPr>
          <p:cNvPr id="40" name="Feature icon 5" descr="Voyage AI Rerank icon">    </p:cNvPr>
          <p:cNvPicPr>
            <a:picLocks noChangeAspect="1"/>
          </p:cNvPicPr>
          <p:nvPr/>
        </p:nvPicPr>
        <p:blipFill>
          <a:blip r:embed="rId9"/>
          <a:stretch>
            <a:fillRect/>
          </a:stretch>
        </p:blipFill>
        <p:spPr>
          <a:xfrm>
            <a:off x="781812" y="4009644"/>
            <a:ext cx="192024" cy="192024"/>
          </a:xfrm>
          <a:prstGeom prst="rect">
            <a:avLst/>
          </a:prstGeom>
        </p:spPr>
      </p:pic>
      <p:sp>
        <p:nvSpPr>
          <p:cNvPr id="41" name="Feature name 5"/>
          <p:cNvSpPr txBox="1"/>
          <p:nvPr/>
        </p:nvSpPr>
        <p:spPr>
          <a:xfrm>
            <a:off x="1188720" y="3858768"/>
            <a:ext cx="2057400" cy="256032"/>
          </a:xfrm>
          <a:prstGeom prst="rect">
            <a:avLst/>
          </a:prstGeom>
          <a:noFill/>
          <a:ln/>
        </p:spPr>
        <p:txBody>
          <a:bodyPr wrap="square" lIns="0" tIns="0" rIns="0" bIns="0" rtlCol="0" anchor="ctr"/>
          <a:lstStyle/>
          <a:p>
            <a:pPr indent="0" marL="0">
              <a:buNone/>
            </a:pPr>
            <a:r>
              <a:rPr lang="en-US" sz="1300" b="1" dirty="0">
                <a:solidFill>
                  <a:schemeClr val="tx1"/>
                </a:solidFill>
              </a:rPr>
              <a:t>Voyage AI Rerank</a:t>
            </a:r>
            <a:endParaRPr lang="en-US" sz="1300" dirty="0"/>
          </a:p>
        </p:txBody>
      </p:sp>
      <p:sp>
        <p:nvSpPr>
          <p:cNvPr id="42" name="Feature text 5"/>
          <p:cNvSpPr txBox="1"/>
          <p:nvPr/>
        </p:nvSpPr>
        <p:spPr>
          <a:xfrm>
            <a:off x="1188720" y="4114800"/>
            <a:ext cx="2057400" cy="237744"/>
          </a:xfrm>
          <a:prstGeom prst="rect">
            <a:avLst/>
          </a:prstGeom>
          <a:noFill/>
          <a:ln/>
        </p:spPr>
        <p:txBody>
          <a:bodyPr wrap="square" lIns="0" tIns="0" rIns="0" bIns="0" rtlCol="0" anchor="ctr"/>
          <a:lstStyle/>
          <a:p>
            <a:pPr indent="0" marL="0">
              <a:buNone/>
            </a:pPr>
            <a:r>
              <a:rPr lang="en-US" sz="1100" dirty="0">
                <a:solidFill>
                  <a:schemeClr val="accent3"/>
                </a:solidFill>
              </a:rPr>
              <a:t>rerank-2.5 puts the best first</a:t>
            </a:r>
            <a:endParaRPr lang="en-US" sz="1100" dirty="0"/>
          </a:p>
        </p:txBody>
      </p:sp>
      <p:sp>
        <p:nvSpPr>
          <p:cNvPr id="43" name="Feature card 6"/>
          <p:cNvSpPr/>
          <p:nvPr/>
        </p:nvSpPr>
        <p:spPr>
          <a:xfrm>
            <a:off x="3429000" y="3785616"/>
            <a:ext cx="2743200" cy="640080"/>
          </a:xfrm>
          <a:prstGeom prst="roundRect">
            <a:avLst>
              <a:gd name="adj" fmla="val 14286"/>
            </a:avLst>
          </a:prstGeom>
          <a:solidFill>
            <a:schemeClr val="bg2"/>
          </a:solidFill>
          <a:ln/>
        </p:spPr>
      </p:sp>
      <p:sp>
        <p:nvSpPr>
          <p:cNvPr id="44" name="Feature circle 6"/>
          <p:cNvSpPr/>
          <p:nvPr/>
        </p:nvSpPr>
        <p:spPr>
          <a:xfrm>
            <a:off x="3566160" y="3913632"/>
            <a:ext cx="384048" cy="384048"/>
          </a:xfrm>
          <a:prstGeom prst="ellipse">
            <a:avLst/>
          </a:prstGeom>
          <a:solidFill>
            <a:schemeClr val="accent1"/>
          </a:solidFill>
          <a:ln/>
        </p:spPr>
      </p:sp>
      <p:pic>
        <p:nvPicPr>
          <p:cNvPr id="45" name="Feature icon 6" descr="Stream Processing icon">    </p:cNvPr>
          <p:cNvPicPr>
            <a:picLocks noChangeAspect="1"/>
          </p:cNvPicPr>
          <p:nvPr/>
        </p:nvPicPr>
        <p:blipFill>
          <a:blip r:embed="rId10"/>
          <a:stretch>
            <a:fillRect/>
          </a:stretch>
        </p:blipFill>
        <p:spPr>
          <a:xfrm>
            <a:off x="3662172" y="4009644"/>
            <a:ext cx="192024" cy="192024"/>
          </a:xfrm>
          <a:prstGeom prst="rect">
            <a:avLst/>
          </a:prstGeom>
        </p:spPr>
      </p:pic>
      <p:sp>
        <p:nvSpPr>
          <p:cNvPr id="46" name="Feature name 6"/>
          <p:cNvSpPr txBox="1"/>
          <p:nvPr/>
        </p:nvSpPr>
        <p:spPr>
          <a:xfrm>
            <a:off x="4069080" y="3858768"/>
            <a:ext cx="2057400" cy="256032"/>
          </a:xfrm>
          <a:prstGeom prst="rect">
            <a:avLst/>
          </a:prstGeom>
          <a:noFill/>
          <a:ln/>
        </p:spPr>
        <p:txBody>
          <a:bodyPr wrap="square" lIns="0" tIns="0" rIns="0" bIns="0" rtlCol="0" anchor="ctr"/>
          <a:lstStyle/>
          <a:p>
            <a:pPr indent="0" marL="0">
              <a:buNone/>
            </a:pPr>
            <a:r>
              <a:rPr lang="en-US" sz="1300" b="1" dirty="0">
                <a:solidFill>
                  <a:schemeClr val="tx1"/>
                </a:solidFill>
              </a:rPr>
              <a:t>Stream Processing</a:t>
            </a:r>
            <a:endParaRPr lang="en-US" sz="1300" dirty="0"/>
          </a:p>
        </p:txBody>
      </p:sp>
      <p:sp>
        <p:nvSpPr>
          <p:cNvPr id="47" name="Feature text 6"/>
          <p:cNvSpPr txBox="1"/>
          <p:nvPr/>
        </p:nvSpPr>
        <p:spPr>
          <a:xfrm>
            <a:off x="4069080" y="4114800"/>
            <a:ext cx="2057400" cy="237744"/>
          </a:xfrm>
          <a:prstGeom prst="rect">
            <a:avLst/>
          </a:prstGeom>
          <a:noFill/>
          <a:ln/>
        </p:spPr>
        <p:txBody>
          <a:bodyPr wrap="square" lIns="0" tIns="0" rIns="0" bIns="0" rtlCol="0" anchor="ctr"/>
          <a:lstStyle/>
          <a:p>
            <a:pPr indent="0" marL="0">
              <a:buNone/>
            </a:pPr>
            <a:r>
              <a:rPr lang="en-US" sz="1100" dirty="0">
                <a:solidFill>
                  <a:schemeClr val="accent3"/>
                </a:solidFill>
              </a:rPr>
              <a:t>Menu photos as events (next)</a:t>
            </a:r>
            <a:endParaRPr lang="en-US" sz="1100" dirty="0"/>
          </a:p>
        </p:txBody>
      </p:sp>
      <p:sp>
        <p:nvSpPr>
          <p:cNvPr id="48" name="Dish count"/>
          <p:cNvSpPr txBox="1"/>
          <p:nvPr/>
        </p:nvSpPr>
        <p:spPr>
          <a:xfrm>
            <a:off x="6492240" y="2240280"/>
            <a:ext cx="2103120" cy="777240"/>
          </a:xfrm>
          <a:prstGeom prst="rect">
            <a:avLst/>
          </a:prstGeom>
          <a:noFill/>
          <a:ln/>
        </p:spPr>
        <p:txBody>
          <a:bodyPr wrap="square" lIns="0" tIns="0" rIns="0" bIns="0" rtlCol="0" anchor="ctr"/>
          <a:lstStyle/>
          <a:p>
            <a:pPr indent="0" marL="0">
              <a:buNone/>
            </a:pPr>
            <a:r>
              <a:rPr lang="en-US" sz="4800" b="1" dirty="0">
                <a:solidFill>
                  <a:schemeClr val="tx2"/>
                </a:solidFill>
                <a:latin typeface="Montserrat" pitchFamily="34" charset="0"/>
                <a:ea typeface="Montserrat" pitchFamily="34" charset="-122"/>
                <a:cs typeface="Montserrat" pitchFamily="34" charset="-120"/>
              </a:rPr>
              <a:t>630+</a:t>
            </a:r>
            <a:endParaRPr lang="en-US" sz="4800" dirty="0"/>
          </a:p>
        </p:txBody>
      </p:sp>
      <p:sp>
        <p:nvSpPr>
          <p:cNvPr id="49" name="Dish count label"/>
          <p:cNvSpPr txBox="1"/>
          <p:nvPr/>
        </p:nvSpPr>
        <p:spPr>
          <a:xfrm>
            <a:off x="6492240" y="3017520"/>
            <a:ext cx="2103120" cy="502920"/>
          </a:xfrm>
          <a:prstGeom prst="rect">
            <a:avLst/>
          </a:prstGeom>
          <a:noFill/>
          <a:ln/>
        </p:spPr>
        <p:txBody>
          <a:bodyPr wrap="square" lIns="0" tIns="0" rIns="0" bIns="0" rtlCol="0" anchor="t"/>
          <a:lstStyle/>
          <a:p>
            <a:pPr indent="0" marL="0">
              <a:buNone/>
            </a:pPr>
            <a:r>
              <a:rPr lang="en-US" sz="1400" dirty="0">
                <a:solidFill>
                  <a:schemeClr val="tx1"/>
                </a:solidFill>
              </a:rPr>
              <a:t>dishes from real menus, shared by every user</a:t>
            </a:r>
            <a:endParaRPr lang="en-US" sz="1400" dirty="0"/>
          </a:p>
        </p:txBody>
      </p:sp>
      <p:sp>
        <p:nvSpPr>
          <p:cNvPr id="50" name="Shared knowledge note"/>
          <p:cNvSpPr txBox="1"/>
          <p:nvPr/>
        </p:nvSpPr>
        <p:spPr>
          <a:xfrm>
            <a:off x="6492240" y="3611880"/>
            <a:ext cx="2103120" cy="777240"/>
          </a:xfrm>
          <a:prstGeom prst="rect">
            <a:avLst/>
          </a:prstGeom>
          <a:noFill/>
          <a:ln/>
        </p:spPr>
        <p:txBody>
          <a:bodyPr wrap="square" lIns="0" tIns="0" rIns="0" bIns="0" rtlCol="0" anchor="t"/>
          <a:lstStyle/>
          <a:p>
            <a:pPr indent="0" marL="0">
              <a:buNone/>
            </a:pPr>
            <a:r>
              <a:rPr lang="en-US" sz="1400" i="1" dirty="0">
                <a:solidFill>
                  <a:schemeClr val="tx2"/>
                </a:solidFill>
              </a:rPr>
              <a:t>Every menu one person reads makes the next search smarter.</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731520"/>
          </a:xfrm>
          <a:prstGeom prst="rect">
            <a:avLst/>
          </a:prstGeom>
          <a:noFill/>
          <a:ln/>
        </p:spPr>
        <p:txBody>
          <a:bodyPr wrap="square" lIns="0" tIns="0" rIns="0" bIns="0" rtlCol="0" anchor="ctr"/>
          <a:lstStyle/>
          <a:p>
            <a:pPr algn="l" indent="0" marL="0">
              <a:buNone/>
            </a:pPr>
            <a:r>
              <a:rPr lang="en-US" sz="3200" b="1" dirty="0">
                <a:solidFill>
                  <a:schemeClr val="tx1"/>
                </a:solidFill>
              </a:rPr>
              <a:t>MongoDB features in our code</a:t>
            </a:r>
            <a:endParaRPr lang="en-US" sz="3200" dirty="0"/>
          </a:p>
        </p:txBody>
      </p:sp>
      <p:sp>
        <p:nvSpPr>
          <p:cNvPr id="3" name="Code card 1"/>
          <p:cNvSpPr/>
          <p:nvPr/>
        </p:nvSpPr>
        <p:spPr>
          <a:xfrm>
            <a:off x="548640" y="1188720"/>
            <a:ext cx="2606040" cy="1691640"/>
          </a:xfrm>
          <a:prstGeom prst="roundRect">
            <a:avLst>
              <a:gd name="adj" fmla="val 5405"/>
            </a:avLst>
          </a:prstGeom>
          <a:solidFill>
            <a:schemeClr val="tx2"/>
          </a:solidFill>
          <a:ln/>
        </p:spPr>
      </p:sp>
      <p:sp>
        <p:nvSpPr>
          <p:cNvPr id="4" name="Code feature 1"/>
          <p:cNvSpPr txBox="1"/>
          <p:nvPr/>
        </p:nvSpPr>
        <p:spPr>
          <a:xfrm>
            <a:off x="685800" y="1280160"/>
            <a:ext cx="2377440" cy="256032"/>
          </a:xfrm>
          <a:prstGeom prst="rect">
            <a:avLst/>
          </a:prstGeom>
          <a:noFill/>
          <a:ln/>
        </p:spPr>
        <p:txBody>
          <a:bodyPr wrap="square" lIns="0" tIns="0" rIns="0" bIns="0" rtlCol="0" anchor="ctr"/>
          <a:lstStyle/>
          <a:p>
            <a:pPr indent="0" marL="0">
              <a:buNone/>
            </a:pPr>
            <a:r>
              <a:rPr lang="en-US" sz="1300" b="1" dirty="0">
                <a:solidFill>
                  <a:schemeClr val="bg1"/>
                </a:solidFill>
              </a:rPr>
              <a:t>Atlas Search</a:t>
            </a:r>
            <a:endParaRPr lang="en-US" sz="1300" dirty="0"/>
          </a:p>
        </p:txBody>
      </p:sp>
      <p:sp>
        <p:nvSpPr>
          <p:cNvPr id="5" name="Code use 1"/>
          <p:cNvSpPr txBox="1"/>
          <p:nvPr/>
        </p:nvSpPr>
        <p:spPr>
          <a:xfrm>
            <a:off x="685800" y="1517904"/>
            <a:ext cx="2377440" cy="219456"/>
          </a:xfrm>
          <a:prstGeom prst="rect">
            <a:avLst/>
          </a:prstGeom>
          <a:noFill/>
          <a:ln/>
        </p:spPr>
        <p:txBody>
          <a:bodyPr wrap="square" lIns="0" tIns="0" rIns="0" bIns="0" rtlCol="0" anchor="ctr"/>
          <a:lstStyle/>
          <a:p>
            <a:pPr indent="0" marL="0">
              <a:buNone/>
            </a:pPr>
            <a:r>
              <a:rPr lang="en-US" sz="1050" dirty="0">
                <a:solidFill>
                  <a:schemeClr val="accent1"/>
                </a:solidFill>
              </a:rPr>
              <a:t>Exact allergen words, typos</a:t>
            </a:r>
            <a:endParaRPr lang="en-US" sz="1050" dirty="0"/>
          </a:p>
        </p:txBody>
      </p:sp>
      <p:sp>
        <p:nvSpPr>
          <p:cNvPr id="6" name="Code snippet 1"/>
          <p:cNvSpPr txBox="1"/>
          <p:nvPr/>
        </p:nvSpPr>
        <p:spPr>
          <a:xfrm>
            <a:off x="685800" y="1792224"/>
            <a:ext cx="2377440" cy="1024128"/>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$search: { compound: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must: [{ text: { query,</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fuzzy: { maxEdits: 1 } }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mustNot: [{ equals: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path: "allergensPresent",</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value: "crustaceans" } }] } }</a:t>
            </a:r>
            <a:endParaRPr lang="en-US" sz="900" dirty="0"/>
          </a:p>
        </p:txBody>
      </p:sp>
      <p:sp>
        <p:nvSpPr>
          <p:cNvPr id="7" name="Code card 2"/>
          <p:cNvSpPr/>
          <p:nvPr/>
        </p:nvSpPr>
        <p:spPr>
          <a:xfrm>
            <a:off x="3268980" y="1188720"/>
            <a:ext cx="2606040" cy="1691640"/>
          </a:xfrm>
          <a:prstGeom prst="roundRect">
            <a:avLst>
              <a:gd name="adj" fmla="val 5405"/>
            </a:avLst>
          </a:prstGeom>
          <a:solidFill>
            <a:schemeClr val="tx2"/>
          </a:solidFill>
          <a:ln/>
        </p:spPr>
      </p:sp>
      <p:sp>
        <p:nvSpPr>
          <p:cNvPr id="8" name="Code feature 2"/>
          <p:cNvSpPr txBox="1"/>
          <p:nvPr/>
        </p:nvSpPr>
        <p:spPr>
          <a:xfrm>
            <a:off x="3406140" y="1280160"/>
            <a:ext cx="2377440" cy="256032"/>
          </a:xfrm>
          <a:prstGeom prst="rect">
            <a:avLst/>
          </a:prstGeom>
          <a:noFill/>
          <a:ln/>
        </p:spPr>
        <p:txBody>
          <a:bodyPr wrap="square" lIns="0" tIns="0" rIns="0" bIns="0" rtlCol="0" anchor="ctr"/>
          <a:lstStyle/>
          <a:p>
            <a:pPr indent="0" marL="0">
              <a:buNone/>
            </a:pPr>
            <a:r>
              <a:rPr lang="en-US" sz="1300" b="1" dirty="0">
                <a:solidFill>
                  <a:schemeClr val="bg1"/>
                </a:solidFill>
              </a:rPr>
              <a:t>Vector Search + Auto-embed</a:t>
            </a:r>
            <a:endParaRPr lang="en-US" sz="1300" dirty="0"/>
          </a:p>
        </p:txBody>
      </p:sp>
      <p:sp>
        <p:nvSpPr>
          <p:cNvPr id="9" name="Code use 2"/>
          <p:cNvSpPr txBox="1"/>
          <p:nvPr/>
        </p:nvSpPr>
        <p:spPr>
          <a:xfrm>
            <a:off x="3406140" y="1517904"/>
            <a:ext cx="2377440" cy="219456"/>
          </a:xfrm>
          <a:prstGeom prst="rect">
            <a:avLst/>
          </a:prstGeom>
          <a:noFill/>
          <a:ln/>
        </p:spPr>
        <p:txBody>
          <a:bodyPr wrap="square" lIns="0" tIns="0" rIns="0" bIns="0" rtlCol="0" anchor="ctr"/>
          <a:lstStyle/>
          <a:p>
            <a:pPr indent="0" marL="0">
              <a:buNone/>
            </a:pPr>
            <a:r>
              <a:rPr lang="en-US" sz="1050" dirty="0">
                <a:solidFill>
                  <a:schemeClr val="accent1"/>
                </a:solidFill>
              </a:rPr>
              <a:t>Meaning; Atlas embeds every dish</a:t>
            </a:r>
            <a:endParaRPr lang="en-US" sz="1050" dirty="0"/>
          </a:p>
        </p:txBody>
      </p:sp>
      <p:sp>
        <p:nvSpPr>
          <p:cNvPr id="10" name="Code snippet 2"/>
          <p:cNvSpPr txBox="1"/>
          <p:nvPr/>
        </p:nvSpPr>
        <p:spPr>
          <a:xfrm>
            <a:off x="3406140" y="1792224"/>
            <a:ext cx="2377440" cy="1024128"/>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 type: "autoEmbed",</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path: "searchText",</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model: "voyage-4"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$vectorSearch: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query: { text: "vegan"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filter: { allergensPresent:</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 $nin: avoid } } }</a:t>
            </a:r>
            <a:endParaRPr lang="en-US" sz="900" dirty="0"/>
          </a:p>
        </p:txBody>
      </p:sp>
      <p:sp>
        <p:nvSpPr>
          <p:cNvPr id="11" name="Code card 3"/>
          <p:cNvSpPr/>
          <p:nvPr/>
        </p:nvSpPr>
        <p:spPr>
          <a:xfrm>
            <a:off x="5989320" y="1188720"/>
            <a:ext cx="2606040" cy="1691640"/>
          </a:xfrm>
          <a:prstGeom prst="roundRect">
            <a:avLst>
              <a:gd name="adj" fmla="val 5405"/>
            </a:avLst>
          </a:prstGeom>
          <a:solidFill>
            <a:schemeClr val="tx2"/>
          </a:solidFill>
          <a:ln/>
        </p:spPr>
      </p:sp>
      <p:sp>
        <p:nvSpPr>
          <p:cNvPr id="12" name="Code feature 3"/>
          <p:cNvSpPr txBox="1"/>
          <p:nvPr/>
        </p:nvSpPr>
        <p:spPr>
          <a:xfrm>
            <a:off x="6126480" y="1280160"/>
            <a:ext cx="2377440" cy="256032"/>
          </a:xfrm>
          <a:prstGeom prst="rect">
            <a:avLst/>
          </a:prstGeom>
          <a:noFill/>
          <a:ln/>
        </p:spPr>
        <p:txBody>
          <a:bodyPr wrap="square" lIns="0" tIns="0" rIns="0" bIns="0" rtlCol="0" anchor="ctr"/>
          <a:lstStyle/>
          <a:p>
            <a:pPr indent="0" marL="0">
              <a:buNone/>
            </a:pPr>
            <a:r>
              <a:rPr lang="en-US" sz="1300" b="1" dirty="0">
                <a:solidFill>
                  <a:schemeClr val="bg1"/>
                </a:solidFill>
              </a:rPr>
              <a:t>Hybrid Search</a:t>
            </a:r>
            <a:endParaRPr lang="en-US" sz="1300" dirty="0"/>
          </a:p>
        </p:txBody>
      </p:sp>
      <p:sp>
        <p:nvSpPr>
          <p:cNvPr id="13" name="Code use 3"/>
          <p:cNvSpPr txBox="1"/>
          <p:nvPr/>
        </p:nvSpPr>
        <p:spPr>
          <a:xfrm>
            <a:off x="6126480" y="1517904"/>
            <a:ext cx="2377440" cy="219456"/>
          </a:xfrm>
          <a:prstGeom prst="rect">
            <a:avLst/>
          </a:prstGeom>
          <a:noFill/>
          <a:ln/>
        </p:spPr>
        <p:txBody>
          <a:bodyPr wrap="square" lIns="0" tIns="0" rIns="0" bIns="0" rtlCol="0" anchor="ctr"/>
          <a:lstStyle/>
          <a:p>
            <a:pPr indent="0" marL="0">
              <a:buNone/>
            </a:pPr>
            <a:r>
              <a:rPr lang="en-US" sz="1050" dirty="0">
                <a:solidFill>
                  <a:schemeClr val="accent1"/>
                </a:solidFill>
              </a:rPr>
              <a:t>One ranked list from both</a:t>
            </a:r>
            <a:endParaRPr lang="en-US" sz="1050" dirty="0"/>
          </a:p>
        </p:txBody>
      </p:sp>
      <p:sp>
        <p:nvSpPr>
          <p:cNvPr id="14" name="Code snippet 3"/>
          <p:cNvSpPr txBox="1"/>
          <p:nvPr/>
        </p:nvSpPr>
        <p:spPr>
          <a:xfrm>
            <a:off x="6126480" y="1792224"/>
            <a:ext cx="2377440" cy="1024128"/>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$rankFusion: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input: { pipelines: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vectorPipeline,</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fullTextPipeline }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combination: { weights: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vectorPipeline: 0.55,</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fullTextPipeline: 0.45 } } }</a:t>
            </a:r>
            <a:endParaRPr lang="en-US" sz="900" dirty="0"/>
          </a:p>
        </p:txBody>
      </p:sp>
      <p:sp>
        <p:nvSpPr>
          <p:cNvPr id="15" name="Code card 4"/>
          <p:cNvSpPr/>
          <p:nvPr/>
        </p:nvSpPr>
        <p:spPr>
          <a:xfrm>
            <a:off x="548640" y="2971800"/>
            <a:ext cx="2606040" cy="1691640"/>
          </a:xfrm>
          <a:prstGeom prst="roundRect">
            <a:avLst>
              <a:gd name="adj" fmla="val 5405"/>
            </a:avLst>
          </a:prstGeom>
          <a:solidFill>
            <a:schemeClr val="tx2"/>
          </a:solidFill>
          <a:ln/>
        </p:spPr>
      </p:sp>
      <p:sp>
        <p:nvSpPr>
          <p:cNvPr id="16" name="Code feature 4"/>
          <p:cNvSpPr txBox="1"/>
          <p:nvPr/>
        </p:nvSpPr>
        <p:spPr>
          <a:xfrm>
            <a:off x="685800" y="3063240"/>
            <a:ext cx="2377440" cy="256032"/>
          </a:xfrm>
          <a:prstGeom prst="rect">
            <a:avLst/>
          </a:prstGeom>
          <a:noFill/>
          <a:ln/>
        </p:spPr>
        <p:txBody>
          <a:bodyPr wrap="square" lIns="0" tIns="0" rIns="0" bIns="0" rtlCol="0" anchor="ctr"/>
          <a:lstStyle/>
          <a:p>
            <a:pPr indent="0" marL="0">
              <a:buNone/>
            </a:pPr>
            <a:r>
              <a:rPr lang="en-US" sz="1300" b="1" dirty="0">
                <a:solidFill>
                  <a:schemeClr val="bg1"/>
                </a:solidFill>
              </a:rPr>
              <a:t>Voyage AI rerank</a:t>
            </a:r>
            <a:endParaRPr lang="en-US" sz="1300" dirty="0"/>
          </a:p>
        </p:txBody>
      </p:sp>
      <p:sp>
        <p:nvSpPr>
          <p:cNvPr id="17" name="Code use 4"/>
          <p:cNvSpPr txBox="1"/>
          <p:nvPr/>
        </p:nvSpPr>
        <p:spPr>
          <a:xfrm>
            <a:off x="685800" y="3300984"/>
            <a:ext cx="2377440" cy="219456"/>
          </a:xfrm>
          <a:prstGeom prst="rect">
            <a:avLst/>
          </a:prstGeom>
          <a:noFill/>
          <a:ln/>
        </p:spPr>
        <p:txBody>
          <a:bodyPr wrap="square" lIns="0" tIns="0" rIns="0" bIns="0" rtlCol="0" anchor="ctr"/>
          <a:lstStyle/>
          <a:p>
            <a:pPr indent="0" marL="0">
              <a:buNone/>
            </a:pPr>
            <a:r>
              <a:rPr lang="en-US" sz="1050" dirty="0">
                <a:solidFill>
                  <a:schemeClr val="accent1"/>
                </a:solidFill>
              </a:rPr>
              <a:t>Best dishes first, then the LLM</a:t>
            </a:r>
            <a:endParaRPr lang="en-US" sz="1050" dirty="0"/>
          </a:p>
        </p:txBody>
      </p:sp>
      <p:sp>
        <p:nvSpPr>
          <p:cNvPr id="18" name="Code snippet 4"/>
          <p:cNvSpPr txBox="1"/>
          <p:nvPr/>
        </p:nvSpPr>
        <p:spPr>
          <a:xfrm>
            <a:off x="685800" y="3575304"/>
            <a:ext cx="2377440" cy="1024128"/>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 $rerank: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model: "rerank-2.5",</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path: "searchText",</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numDocsToRerank: 40 } }</a:t>
            </a:r>
            <a:endParaRPr lang="en-US" sz="900" dirty="0"/>
          </a:p>
          <a:p>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Voyage API on MongoDB 8.0</a:t>
            </a:r>
            <a:endParaRPr lang="en-US" sz="900" dirty="0"/>
          </a:p>
        </p:txBody>
      </p:sp>
      <p:sp>
        <p:nvSpPr>
          <p:cNvPr id="19" name="Code card 5"/>
          <p:cNvSpPr/>
          <p:nvPr/>
        </p:nvSpPr>
        <p:spPr>
          <a:xfrm>
            <a:off x="3268980" y="2971800"/>
            <a:ext cx="2606040" cy="1691640"/>
          </a:xfrm>
          <a:prstGeom prst="roundRect">
            <a:avLst>
              <a:gd name="adj" fmla="val 5405"/>
            </a:avLst>
          </a:prstGeom>
          <a:solidFill>
            <a:schemeClr val="tx2"/>
          </a:solidFill>
          <a:ln/>
        </p:spPr>
      </p:sp>
      <p:sp>
        <p:nvSpPr>
          <p:cNvPr id="20" name="Code feature 5"/>
          <p:cNvSpPr txBox="1"/>
          <p:nvPr/>
        </p:nvSpPr>
        <p:spPr>
          <a:xfrm>
            <a:off x="3406140" y="3063240"/>
            <a:ext cx="2377440" cy="256032"/>
          </a:xfrm>
          <a:prstGeom prst="rect">
            <a:avLst/>
          </a:prstGeom>
          <a:noFill/>
          <a:ln/>
        </p:spPr>
        <p:txBody>
          <a:bodyPr wrap="square" lIns="0" tIns="0" rIns="0" bIns="0" rtlCol="0" anchor="ctr"/>
          <a:lstStyle/>
          <a:p>
            <a:pPr indent="0" marL="0">
              <a:buNone/>
            </a:pPr>
            <a:r>
              <a:rPr lang="en-US" sz="1300" b="1" dirty="0">
                <a:solidFill>
                  <a:schemeClr val="bg1"/>
                </a:solidFill>
              </a:rPr>
              <a:t>Geospatial</a:t>
            </a:r>
            <a:endParaRPr lang="en-US" sz="1300" dirty="0"/>
          </a:p>
        </p:txBody>
      </p:sp>
      <p:sp>
        <p:nvSpPr>
          <p:cNvPr id="21" name="Code use 5"/>
          <p:cNvSpPr txBox="1"/>
          <p:nvPr/>
        </p:nvSpPr>
        <p:spPr>
          <a:xfrm>
            <a:off x="3406140" y="3300984"/>
            <a:ext cx="2377440" cy="219456"/>
          </a:xfrm>
          <a:prstGeom prst="rect">
            <a:avLst/>
          </a:prstGeom>
          <a:noFill/>
          <a:ln/>
        </p:spPr>
        <p:txBody>
          <a:bodyPr wrap="square" lIns="0" tIns="0" rIns="0" bIns="0" rtlCol="0" anchor="ctr"/>
          <a:lstStyle/>
          <a:p>
            <a:pPr indent="0" marL="0">
              <a:buNone/>
            </a:pPr>
            <a:r>
              <a:rPr lang="en-US" sz="1050" dirty="0">
                <a:solidFill>
                  <a:schemeClr val="accent1"/>
                </a:solidFill>
              </a:rPr>
              <a:t>Restaurants and dishes near you</a:t>
            </a:r>
            <a:endParaRPr lang="en-US" sz="1050" dirty="0"/>
          </a:p>
        </p:txBody>
      </p:sp>
      <p:sp>
        <p:nvSpPr>
          <p:cNvPr id="22" name="Code snippet 5"/>
          <p:cNvSpPr txBox="1"/>
          <p:nvPr/>
        </p:nvSpPr>
        <p:spPr>
          <a:xfrm>
            <a:off x="3406140" y="3575304"/>
            <a:ext cx="2377440" cy="1024128"/>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 location: "2dsphere" }</a:t>
            </a:r>
            <a:endParaRPr lang="en-US" sz="900" dirty="0"/>
          </a:p>
          <a:p>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location: { $near: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$geometry: { type: "Point",</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coordinates: [lng, lat]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$maxDistance: 2000 } }</a:t>
            </a:r>
            <a:endParaRPr lang="en-US" sz="900" dirty="0"/>
          </a:p>
        </p:txBody>
      </p:sp>
      <p:sp>
        <p:nvSpPr>
          <p:cNvPr id="23" name="Code card 6"/>
          <p:cNvSpPr/>
          <p:nvPr/>
        </p:nvSpPr>
        <p:spPr>
          <a:xfrm>
            <a:off x="5989320" y="2971800"/>
            <a:ext cx="2606040" cy="1691640"/>
          </a:xfrm>
          <a:prstGeom prst="roundRect">
            <a:avLst>
              <a:gd name="adj" fmla="val 5405"/>
            </a:avLst>
          </a:prstGeom>
          <a:solidFill>
            <a:schemeClr val="tx2"/>
          </a:solidFill>
          <a:ln/>
        </p:spPr>
      </p:sp>
      <p:sp>
        <p:nvSpPr>
          <p:cNvPr id="24" name="Code feature 6"/>
          <p:cNvSpPr txBox="1"/>
          <p:nvPr/>
        </p:nvSpPr>
        <p:spPr>
          <a:xfrm>
            <a:off x="6126480" y="3063240"/>
            <a:ext cx="2377440" cy="256032"/>
          </a:xfrm>
          <a:prstGeom prst="rect">
            <a:avLst/>
          </a:prstGeom>
          <a:noFill/>
          <a:ln/>
        </p:spPr>
        <p:txBody>
          <a:bodyPr wrap="square" lIns="0" tIns="0" rIns="0" bIns="0" rtlCol="0" anchor="ctr"/>
          <a:lstStyle/>
          <a:p>
            <a:pPr indent="0" marL="0">
              <a:buNone/>
            </a:pPr>
            <a:r>
              <a:rPr lang="en-US" sz="1300" b="1" dirty="0">
                <a:solidFill>
                  <a:schemeClr val="bg1"/>
                </a:solidFill>
              </a:rPr>
              <a:t>Upserts + unique index</a:t>
            </a:r>
            <a:endParaRPr lang="en-US" sz="1300" dirty="0"/>
          </a:p>
        </p:txBody>
      </p:sp>
      <p:sp>
        <p:nvSpPr>
          <p:cNvPr id="25" name="Code use 6"/>
          <p:cNvSpPr txBox="1"/>
          <p:nvPr/>
        </p:nvSpPr>
        <p:spPr>
          <a:xfrm>
            <a:off x="6126480" y="3300984"/>
            <a:ext cx="2377440" cy="219456"/>
          </a:xfrm>
          <a:prstGeom prst="rect">
            <a:avLst/>
          </a:prstGeom>
          <a:noFill/>
          <a:ln/>
        </p:spPr>
        <p:txBody>
          <a:bodyPr wrap="square" lIns="0" tIns="0" rIns="0" bIns="0" rtlCol="0" anchor="ctr"/>
          <a:lstStyle/>
          <a:p>
            <a:pPr indent="0" marL="0">
              <a:buNone/>
            </a:pPr>
            <a:r>
              <a:rPr lang="en-US" sz="1050" dirty="0">
                <a:solidFill>
                  <a:schemeClr val="accent1"/>
                </a:solidFill>
              </a:rPr>
              <a:t>Shared knowledge, no duplicates</a:t>
            </a:r>
            <a:endParaRPr lang="en-US" sz="1050" dirty="0"/>
          </a:p>
        </p:txBody>
      </p:sp>
      <p:sp>
        <p:nvSpPr>
          <p:cNvPr id="26" name="Code snippet 6"/>
          <p:cNvSpPr txBox="1"/>
          <p:nvPr/>
        </p:nvSpPr>
        <p:spPr>
          <a:xfrm>
            <a:off x="6126480" y="3575304"/>
            <a:ext cx="2377440" cy="1024128"/>
          </a:xfrm>
          <a:prstGeom prst="rect">
            <a:avLst/>
          </a:prstGeom>
          <a:noFill/>
          <a:ln/>
        </p:spPr>
        <p:txBody>
          <a:bodyPr wrap="square" lIns="0" tIns="0" rIns="0" bIns="0" rtlCol="0" anchor="t"/>
          <a:lstStyle/>
          <a:p>
            <a:pPr indent="0" marL="0">
              <a:buNone/>
            </a:pPr>
            <a:r>
              <a:rPr lang="en-US" sz="900" dirty="0">
                <a:solidFill>
                  <a:schemeClr val="bg2"/>
                </a:solidFill>
                <a:latin typeface="Courier New" pitchFamily="34" charset="0"/>
                <a:ea typeface="Courier New" pitchFamily="34" charset="-122"/>
                <a:cs typeface="Courier New" pitchFamily="34" charset="-120"/>
              </a:rPr>
              <a:t>createIndex(</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 restaurantPlaceId: 1,</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name: 1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 unique: true })</a:t>
            </a:r>
            <a:endParaRPr lang="en-US" sz="900" dirty="0"/>
          </a:p>
          <a:p>
            <a:pPr indent="0" marL="0">
              <a:buNone/>
            </a:pP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updateOne(key, { $set: dish },</a:t>
            </a:r>
            <a:endParaRPr lang="en-US" sz="900" dirty="0"/>
          </a:p>
          <a:p>
            <a:pPr indent="0" marL="0">
              <a:buNone/>
            </a:pPr>
            <a:r>
              <a:rPr lang="en-US" sz="900" dirty="0">
                <a:solidFill>
                  <a:schemeClr val="bg2"/>
                </a:solidFill>
                <a:latin typeface="Courier New" pitchFamily="34" charset="0"/>
                <a:ea typeface="Courier New" pitchFamily="34" charset="-122"/>
                <a:cs typeface="Courier New" pitchFamily="34" charset="-120"/>
              </a:rPr>
              <a:t>  { upsert: true })</a:t>
            </a:r>
            <a:endParaRPr lang="en-US" sz="9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Kitchen photo" descr="Restaurant kitchen with a chef at the pass">    </p:cNvPr>
          <p:cNvPicPr>
            <a:picLocks noChangeAspect="1"/>
          </p:cNvPicPr>
          <p:nvPr/>
        </p:nvPicPr>
        <p:blipFill>
          <a:blip r:embed="rId1"/>
          <a:srcRect l="0" r="0" t="0" b="0"/>
          <a:stretch/>
        </p:blipFill>
        <p:spPr>
          <a:xfrm>
            <a:off x="0" y="0"/>
            <a:ext cx="3474720" cy="5143500"/>
          </a:xfrm>
          <a:prstGeom prst="rect">
            <a:avLst/>
          </a:prstGeom>
        </p:spPr>
      </p:pic>
      <p:sp>
        <p:nvSpPr>
          <p:cNvPr id="3" name="Text 0"/>
          <p:cNvSpPr/>
          <p:nvPr>
            <p:ph idx="100" type="title" hasCustomPrompt="1"/>
          </p:nvPr>
        </p:nvSpPr>
        <p:spPr>
          <a:xfrm>
            <a:off x="3931920" y="365760"/>
            <a:ext cx="4663440" cy="1005840"/>
          </a:xfrm>
          <a:prstGeom prst="rect">
            <a:avLst/>
          </a:prstGeom>
          <a:noFill/>
          <a:ln/>
        </p:spPr>
        <p:txBody>
          <a:bodyPr wrap="square" lIns="0" tIns="0" rIns="0" bIns="0" rtlCol="0" anchor="ctr"/>
          <a:lstStyle/>
          <a:p>
            <a:pPr algn="l" indent="0" marL="0">
              <a:buNone/>
            </a:pPr>
            <a:r>
              <a:rPr lang="en-US" sz="3000" b="1" dirty="0">
                <a:solidFill>
                  <a:schemeClr val="tx1"/>
                </a:solidFill>
              </a:rPr>
              <a:t>Honest, private and in your control</a:t>
            </a:r>
            <a:endParaRPr lang="en-US" sz="3000" dirty="0"/>
          </a:p>
        </p:txBody>
      </p:sp>
      <p:sp>
        <p:nvSpPr>
          <p:cNvPr id="4" name="Trust circle 1"/>
          <p:cNvSpPr/>
          <p:nvPr/>
        </p:nvSpPr>
        <p:spPr>
          <a:xfrm>
            <a:off x="3931920" y="1554480"/>
            <a:ext cx="548640" cy="548640"/>
          </a:xfrm>
          <a:prstGeom prst="ellipse">
            <a:avLst/>
          </a:prstGeom>
          <a:solidFill>
            <a:schemeClr val="accent1"/>
          </a:solidFill>
          <a:ln/>
        </p:spPr>
      </p:sp>
      <p:pic>
        <p:nvPicPr>
          <p:cNvPr id="5" name="Trust icon 1" descr="Honest icon">    </p:cNvPr>
          <p:cNvPicPr>
            <a:picLocks noChangeAspect="1"/>
          </p:cNvPicPr>
          <p:nvPr/>
        </p:nvPicPr>
        <p:blipFill>
          <a:blip r:embed="rId2"/>
          <a:stretch>
            <a:fillRect/>
          </a:stretch>
        </p:blipFill>
        <p:spPr>
          <a:xfrm>
            <a:off x="4069080" y="1691640"/>
            <a:ext cx="274320" cy="274320"/>
          </a:xfrm>
          <a:prstGeom prst="rect">
            <a:avLst/>
          </a:prstGeom>
        </p:spPr>
      </p:pic>
      <p:sp>
        <p:nvSpPr>
          <p:cNvPr id="6" name="Trust title 1"/>
          <p:cNvSpPr txBox="1"/>
          <p:nvPr/>
        </p:nvSpPr>
        <p:spPr>
          <a:xfrm>
            <a:off x="4663440" y="1508760"/>
            <a:ext cx="3931920" cy="320040"/>
          </a:xfrm>
          <a:prstGeom prst="rect">
            <a:avLst/>
          </a:prstGeom>
          <a:noFill/>
          <a:ln/>
        </p:spPr>
        <p:txBody>
          <a:bodyPr wrap="square" lIns="0" tIns="0" rIns="0" bIns="0" rtlCol="0" anchor="ctr"/>
          <a:lstStyle/>
          <a:p>
            <a:pPr indent="0" marL="0">
              <a:buNone/>
            </a:pPr>
            <a:r>
              <a:rPr lang="en-US" sz="1800" b="1" dirty="0">
                <a:solidFill>
                  <a:schemeClr val="tx1"/>
                </a:solidFill>
              </a:rPr>
              <a:t>Honest</a:t>
            </a:r>
            <a:endParaRPr lang="en-US" sz="1800" dirty="0"/>
          </a:p>
        </p:txBody>
      </p:sp>
      <p:sp>
        <p:nvSpPr>
          <p:cNvPr id="7" name="Trust text 1"/>
          <p:cNvSpPr txBox="1"/>
          <p:nvPr/>
        </p:nvSpPr>
        <p:spPr>
          <a:xfrm>
            <a:off x="4663440" y="1828800"/>
            <a:ext cx="3931920" cy="685800"/>
          </a:xfrm>
          <a:prstGeom prst="rect">
            <a:avLst/>
          </a:prstGeom>
          <a:noFill/>
          <a:ln/>
        </p:spPr>
        <p:txBody>
          <a:bodyPr wrap="square" lIns="0" tIns="0" rIns="0" bIns="0" rtlCol="0" anchor="t"/>
          <a:lstStyle/>
          <a:p>
            <a:pPr indent="0" marL="0">
              <a:buNone/>
            </a:pPr>
            <a:r>
              <a:rPr lang="en-US" sz="1400" dirty="0">
                <a:solidFill>
                  <a:schemeClr val="accent3"/>
                </a:solidFill>
              </a:rPr>
              <a:t>Unknown never counts as safe. Each place gets a confidence level, or a nudge to ask the kitchen.</a:t>
            </a:r>
            <a:endParaRPr lang="en-US" sz="1400" dirty="0"/>
          </a:p>
        </p:txBody>
      </p:sp>
      <p:sp>
        <p:nvSpPr>
          <p:cNvPr id="8" name="Trust circle 2"/>
          <p:cNvSpPr/>
          <p:nvPr/>
        </p:nvSpPr>
        <p:spPr>
          <a:xfrm>
            <a:off x="3931920" y="2651760"/>
            <a:ext cx="548640" cy="548640"/>
          </a:xfrm>
          <a:prstGeom prst="ellipse">
            <a:avLst/>
          </a:prstGeom>
          <a:solidFill>
            <a:schemeClr val="accent1"/>
          </a:solidFill>
          <a:ln/>
        </p:spPr>
      </p:sp>
      <p:pic>
        <p:nvPicPr>
          <p:cNvPr id="9" name="Trust icon 2" descr="Private icon">    </p:cNvPr>
          <p:cNvPicPr>
            <a:picLocks noChangeAspect="1"/>
          </p:cNvPicPr>
          <p:nvPr/>
        </p:nvPicPr>
        <p:blipFill>
          <a:blip r:embed="rId3"/>
          <a:stretch>
            <a:fillRect/>
          </a:stretch>
        </p:blipFill>
        <p:spPr>
          <a:xfrm>
            <a:off x="4069080" y="2788920"/>
            <a:ext cx="274320" cy="274320"/>
          </a:xfrm>
          <a:prstGeom prst="rect">
            <a:avLst/>
          </a:prstGeom>
        </p:spPr>
      </p:pic>
      <p:sp>
        <p:nvSpPr>
          <p:cNvPr id="10" name="Trust title 2"/>
          <p:cNvSpPr txBox="1"/>
          <p:nvPr/>
        </p:nvSpPr>
        <p:spPr>
          <a:xfrm>
            <a:off x="4663440" y="2606040"/>
            <a:ext cx="3931920" cy="320040"/>
          </a:xfrm>
          <a:prstGeom prst="rect">
            <a:avLst/>
          </a:prstGeom>
          <a:noFill/>
          <a:ln/>
        </p:spPr>
        <p:txBody>
          <a:bodyPr wrap="square" lIns="0" tIns="0" rIns="0" bIns="0" rtlCol="0" anchor="ctr"/>
          <a:lstStyle/>
          <a:p>
            <a:pPr indent="0" marL="0">
              <a:buNone/>
            </a:pPr>
            <a:r>
              <a:rPr lang="en-US" sz="1800" b="1" dirty="0">
                <a:solidFill>
                  <a:schemeClr val="tx1"/>
                </a:solidFill>
              </a:rPr>
              <a:t>Private</a:t>
            </a:r>
            <a:endParaRPr lang="en-US" sz="1800" dirty="0"/>
          </a:p>
        </p:txBody>
      </p:sp>
      <p:sp>
        <p:nvSpPr>
          <p:cNvPr id="11" name="Trust text 2"/>
          <p:cNvSpPr txBox="1"/>
          <p:nvPr/>
        </p:nvSpPr>
        <p:spPr>
          <a:xfrm>
            <a:off x="4663440" y="2926080"/>
            <a:ext cx="3931920" cy="685800"/>
          </a:xfrm>
          <a:prstGeom prst="rect">
            <a:avLst/>
          </a:prstGeom>
          <a:noFill/>
          <a:ln/>
        </p:spPr>
        <p:txBody>
          <a:bodyPr wrap="square" lIns="0" tIns="0" rIns="0" bIns="0" rtlCol="0" anchor="t"/>
          <a:lstStyle/>
          <a:p>
            <a:pPr indent="0" marL="0">
              <a:buNone/>
            </a:pPr>
            <a:r>
              <a:rPr lang="en-US" sz="1400" dirty="0">
                <a:solidFill>
                  <a:schemeClr val="accent3"/>
                </a:solidFill>
              </a:rPr>
              <a:t>We never store anyone's allergies. Your own Saint keeps them and shares them per request.</a:t>
            </a:r>
            <a:endParaRPr lang="en-US" sz="1400" dirty="0"/>
          </a:p>
        </p:txBody>
      </p:sp>
      <p:sp>
        <p:nvSpPr>
          <p:cNvPr id="12" name="Trust circle 3"/>
          <p:cNvSpPr/>
          <p:nvPr/>
        </p:nvSpPr>
        <p:spPr>
          <a:xfrm>
            <a:off x="3931920" y="3749040"/>
            <a:ext cx="548640" cy="548640"/>
          </a:xfrm>
          <a:prstGeom prst="ellipse">
            <a:avLst/>
          </a:prstGeom>
          <a:solidFill>
            <a:schemeClr val="accent1"/>
          </a:solidFill>
          <a:ln/>
        </p:spPr>
      </p:sp>
      <p:pic>
        <p:nvPicPr>
          <p:cNvPr id="13" name="Trust icon 3" descr="In your control icon">    </p:cNvPr>
          <p:cNvPicPr>
            <a:picLocks noChangeAspect="1"/>
          </p:cNvPicPr>
          <p:nvPr/>
        </p:nvPicPr>
        <p:blipFill>
          <a:blip r:embed="rId4"/>
          <a:stretch>
            <a:fillRect/>
          </a:stretch>
        </p:blipFill>
        <p:spPr>
          <a:xfrm>
            <a:off x="4069080" y="3886200"/>
            <a:ext cx="274320" cy="274320"/>
          </a:xfrm>
          <a:prstGeom prst="rect">
            <a:avLst/>
          </a:prstGeom>
        </p:spPr>
      </p:pic>
      <p:sp>
        <p:nvSpPr>
          <p:cNvPr id="14" name="Trust title 3"/>
          <p:cNvSpPr txBox="1"/>
          <p:nvPr/>
        </p:nvSpPr>
        <p:spPr>
          <a:xfrm>
            <a:off x="4663440" y="3703320"/>
            <a:ext cx="3931920" cy="320040"/>
          </a:xfrm>
          <a:prstGeom prst="rect">
            <a:avLst/>
          </a:prstGeom>
          <a:noFill/>
          <a:ln/>
        </p:spPr>
        <p:txBody>
          <a:bodyPr wrap="square" lIns="0" tIns="0" rIns="0" bIns="0" rtlCol="0" anchor="ctr"/>
          <a:lstStyle/>
          <a:p>
            <a:pPr indent="0" marL="0">
              <a:buNone/>
            </a:pPr>
            <a:r>
              <a:rPr lang="en-US" sz="1800" b="1" dirty="0">
                <a:solidFill>
                  <a:schemeClr val="tx1"/>
                </a:solidFill>
              </a:rPr>
              <a:t>In your control</a:t>
            </a:r>
            <a:endParaRPr lang="en-US" sz="1800" dirty="0"/>
          </a:p>
        </p:txBody>
      </p:sp>
      <p:sp>
        <p:nvSpPr>
          <p:cNvPr id="15" name="Trust text 3"/>
          <p:cNvSpPr txBox="1"/>
          <p:nvPr/>
        </p:nvSpPr>
        <p:spPr>
          <a:xfrm>
            <a:off x="4663440" y="4023360"/>
            <a:ext cx="3931920" cy="685800"/>
          </a:xfrm>
          <a:prstGeom prst="rect">
            <a:avLst/>
          </a:prstGeom>
          <a:noFill/>
          <a:ln/>
        </p:spPr>
        <p:txBody>
          <a:bodyPr wrap="square" lIns="0" tIns="0" rIns="0" bIns="0" rtlCol="0" anchor="t"/>
          <a:lstStyle/>
          <a:p>
            <a:pPr indent="0" marL="0">
              <a:buNone/>
            </a:pPr>
            <a:r>
              <a:rPr lang="en-US" sz="1400" dirty="0">
                <a:solidFill>
                  <a:schemeClr val="accent3"/>
                </a:solidFill>
              </a:rPr>
              <a:t>Saint asks before it sends a message, books a table or pays a deposit.</a:t>
            </a:r>
            <a:endParaRPr lang="en-US" sz="14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Closing photo" descr="Two friends toasting at dinner">    </p:cNvPr>
          <p:cNvPicPr>
            <a:picLocks noChangeAspect="1"/>
          </p:cNvPicPr>
          <p:nvPr/>
        </p:nvPicPr>
        <p:blipFill>
          <a:blip r:embed="rId1"/>
          <a:srcRect l="0" r="0" t="0" b="0"/>
          <a:stretch/>
        </p:blipFill>
        <p:spPr>
          <a:xfrm>
            <a:off x="0" y="0"/>
            <a:ext cx="9144000" cy="5143500"/>
          </a:xfrm>
          <a:prstGeom prst="rect">
            <a:avLst/>
          </a:prstGeom>
        </p:spPr>
      </p:pic>
      <p:sp>
        <p:nvSpPr>
          <p:cNvPr id="3" name="Photo overlay"/>
          <p:cNvSpPr/>
          <p:nvPr/>
        </p:nvSpPr>
        <p:spPr>
          <a:xfrm>
            <a:off x="0" y="0"/>
            <a:ext cx="9144000" cy="5143500"/>
          </a:xfrm>
          <a:prstGeom prst="rect">
            <a:avLst/>
          </a:prstGeom>
          <a:solidFill>
            <a:schemeClr val="tx2">
              <a:alpha val="65000"/>
            </a:schemeClr>
          </a:solidFill>
          <a:ln/>
        </p:spPr>
      </p:sp>
      <p:sp>
        <p:nvSpPr>
          <p:cNvPr id="4" name="Badge circle"/>
          <p:cNvSpPr/>
          <p:nvPr/>
        </p:nvSpPr>
        <p:spPr>
          <a:xfrm>
            <a:off x="4023360" y="502920"/>
            <a:ext cx="1097280" cy="1097280"/>
          </a:xfrm>
          <a:prstGeom prst="ellipse">
            <a:avLst/>
          </a:prstGeom>
          <a:solidFill>
            <a:schemeClr val="bg1"/>
          </a:solidFill>
          <a:ln/>
        </p:spPr>
      </p:sp>
      <p:pic>
        <p:nvPicPr>
          <p:cNvPr id="5" name="Badge" descr="Mr Munch cat badge">    </p:cNvPr>
          <p:cNvPicPr>
            <a:picLocks noChangeAspect="1"/>
          </p:cNvPicPr>
          <p:nvPr/>
        </p:nvPicPr>
        <p:blipFill>
          <a:blip r:embed="rId2"/>
          <a:stretch>
            <a:fillRect/>
          </a:stretch>
        </p:blipFill>
        <p:spPr>
          <a:xfrm>
            <a:off x="4142232" y="612648"/>
            <a:ext cx="859536" cy="822960"/>
          </a:xfrm>
          <a:prstGeom prst="rect">
            <a:avLst/>
          </a:prstGeom>
        </p:spPr>
      </p:pic>
      <p:sp>
        <p:nvSpPr>
          <p:cNvPr id="6" name="Text 0"/>
          <p:cNvSpPr/>
          <p:nvPr>
            <p:ph idx="100" type="title" hasCustomPrompt="1"/>
          </p:nvPr>
        </p:nvSpPr>
        <p:spPr>
          <a:xfrm>
            <a:off x="731520" y="1828800"/>
            <a:ext cx="7680960" cy="822960"/>
          </a:xfrm>
          <a:prstGeom prst="rect">
            <a:avLst/>
          </a:prstGeom>
          <a:noFill/>
          <a:ln/>
        </p:spPr>
        <p:txBody>
          <a:bodyPr wrap="square" lIns="0" tIns="0" rIns="0" bIns="0" rtlCol="0" anchor="ctr"/>
          <a:lstStyle/>
          <a:p>
            <a:pPr algn="ctr" indent="0" marL="0">
              <a:buNone/>
            </a:pPr>
            <a:r>
              <a:rPr lang="en-US" sz="4000" b="1" dirty="0">
                <a:solidFill>
                  <a:schemeClr val="bg1"/>
                </a:solidFill>
              </a:rPr>
              <a:t>Eat out without the fear</a:t>
            </a:r>
            <a:endParaRPr lang="en-US" sz="4000" dirty="0"/>
          </a:p>
        </p:txBody>
      </p:sp>
      <p:sp>
        <p:nvSpPr>
          <p:cNvPr id="7" name="Team"/>
          <p:cNvSpPr txBox="1"/>
          <p:nvPr/>
        </p:nvSpPr>
        <p:spPr>
          <a:xfrm>
            <a:off x="731520" y="2880360"/>
            <a:ext cx="7680960" cy="365760"/>
          </a:xfrm>
          <a:prstGeom prst="rect">
            <a:avLst/>
          </a:prstGeom>
          <a:noFill/>
          <a:ln/>
        </p:spPr>
        <p:txBody>
          <a:bodyPr wrap="square" lIns="0" tIns="0" rIns="0" bIns="0" rtlCol="0" anchor="ctr"/>
          <a:lstStyle/>
          <a:p>
            <a:pPr algn="ctr" indent="0" marL="0">
              <a:buNone/>
            </a:pPr>
            <a:r>
              <a:rPr lang="en-US" sz="1600" b="1" dirty="0">
                <a:solidFill>
                  <a:schemeClr val="bg1"/>
                </a:solidFill>
              </a:rPr>
              <a:t>Armando Medina</a:t>
            </a:r>
            <a:pPr algn="ctr" indent="0" marL="0">
              <a:buNone/>
            </a:pPr>
            <a:r>
              <a:rPr lang="en-US" sz="1600" dirty="0">
                <a:solidFill>
                  <a:schemeClr val="accent4"/>
                </a:solidFill>
              </a:rPr>
              <a:t>  Backend · @armsves</a:t>
            </a:r>
            <a:pPr algn="ctr" indent="0" marL="0">
              <a:buNone/>
            </a:pPr>
            <a:r>
              <a:rPr lang="en-US" sz="1600" dirty="0">
                <a:solidFill>
                  <a:srgbClr val="000000"/>
                </a:solidFill>
              </a:rPr>
              <a:t>      </a:t>
            </a:r>
            <a:pPr algn="ctr" indent="0" marL="0">
              <a:buNone/>
            </a:pPr>
            <a:r>
              <a:rPr lang="en-US" sz="1600" b="1" dirty="0">
                <a:solidFill>
                  <a:schemeClr val="bg1"/>
                </a:solidFill>
              </a:rPr>
              <a:t>Marco Germanier</a:t>
            </a:r>
            <a:pPr algn="ctr" indent="0" marL="0">
              <a:buNone/>
            </a:pPr>
            <a:r>
              <a:rPr lang="en-US" sz="1600" dirty="0">
                <a:solidFill>
                  <a:schemeClr val="accent4"/>
                </a:solidFill>
              </a:rPr>
              <a:t>  Data · @0xr3x</a:t>
            </a:r>
            <a:endParaRPr lang="en-US" sz="1600" dirty="0"/>
          </a:p>
        </p:txBody>
      </p:sp>
      <p:sp>
        <p:nvSpPr>
          <p:cNvPr id="8" name="Links"/>
          <p:cNvSpPr txBox="1"/>
          <p:nvPr/>
        </p:nvSpPr>
        <p:spPr>
          <a:xfrm>
            <a:off x="731520" y="3429000"/>
            <a:ext cx="7680960" cy="320040"/>
          </a:xfrm>
          <a:prstGeom prst="rect">
            <a:avLst/>
          </a:prstGeom>
          <a:noFill/>
          <a:ln/>
        </p:spPr>
        <p:txBody>
          <a:bodyPr wrap="square" lIns="0" tIns="0" rIns="0" bIns="0" rtlCol="0" anchor="ctr"/>
          <a:lstStyle/>
          <a:p>
            <a:pPr algn="ctr" indent="0" marL="0">
              <a:buNone/>
            </a:pPr>
            <a:r>
              <a:rPr lang="en-US" sz="1400" dirty="0">
                <a:solidFill>
                  <a:schemeClr val="bg1"/>
                </a:solidFill>
              </a:rPr>
              <a:t>mrmunch.vercel.app   ·   github.com/0xr3x/mr-munch</a:t>
            </a:r>
            <a:endParaRPr lang="en-US" sz="1400" dirty="0"/>
          </a:p>
        </p:txBody>
      </p:sp>
      <p:sp>
        <p:nvSpPr>
          <p:cNvPr id="9" name="Photo credit"/>
          <p:cNvSpPr txBox="1"/>
          <p:nvPr/>
        </p:nvSpPr>
        <p:spPr>
          <a:xfrm>
            <a:off x="731520" y="4709160"/>
            <a:ext cx="7680960" cy="228600"/>
          </a:xfrm>
          <a:prstGeom prst="rect">
            <a:avLst/>
          </a:prstGeom>
          <a:noFill/>
          <a:ln/>
        </p:spPr>
        <p:txBody>
          <a:bodyPr wrap="square" lIns="0" tIns="0" rIns="0" bIns="0" rtlCol="0" anchor="ctr"/>
          <a:lstStyle/>
          <a:p>
            <a:pPr algn="ctr" indent="0" marL="0">
              <a:buNone/>
            </a:pPr>
            <a:r>
              <a:rPr lang="en-US" sz="1000" dirty="0">
                <a:solidFill>
                  <a:schemeClr val="accent4"/>
                </a:solidFill>
              </a:rPr>
              <a:t>Photos: StockSnap (CC0)</a:t>
            </a:r>
            <a:endParaRPr lang="en-US" sz="1000" dirty="0"/>
          </a:p>
        </p:txBody>
      </p:sp>
    </p:spTree>
  </p:cSld>
  <p:clrMapOvr>
    <a:masterClrMapping/>
  </p:clrMapOvr>
</p:sld>
</file>

<file path=ppt/theme/theme1.xml><?xml version="1.0" encoding="utf-8"?>
<a:theme xmlns:a="http://schemas.openxmlformats.org/drawingml/2006/main" name="Mr Munch">
  <a:themeElements>
    <a:clrScheme name="Mr Munch">
      <a:dk1>
        <a:srgbClr val="141B2D"/>
      </a:dk1>
      <a:lt1>
        <a:srgbClr val="FFFFFF"/>
      </a:lt1>
      <a:dk2>
        <a:srgbClr val="1F2A44"/>
      </a:dk2>
      <a:lt2>
        <a:srgbClr val="F3F4F6"/>
      </a:lt2>
      <a:accent1>
        <a:srgbClr val="B8935A"/>
      </a:accent1>
      <a:accent2>
        <a:srgbClr val="2B3A5C"/>
      </a:accent2>
      <a:accent3>
        <a:srgbClr val="6B7280"/>
      </a:accent3>
      <a:accent4>
        <a:srgbClr val="D9C29A"/>
      </a:accent4>
      <a:accent5>
        <a:srgbClr val="3E7C59"/>
      </a:accent5>
      <a:accent6>
        <a:srgbClr val="B4443A"/>
      </a:accent6>
      <a:hlink>
        <a:srgbClr val="B8935A"/>
      </a:hlink>
      <a:folHlink>
        <a:srgbClr val="8C6E40"/>
      </a:folHlink>
    </a:clrScheme>
    <a:fontScheme name="Mr Munch">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 Munch</dc:title>
  <dc:subject>PptxGenJS Presentation</dc:subject>
  <dc:creator>Armando Medina, Marco Germanier</dc:creator>
  <cp:lastModifiedBy>Armando Medina, Marco Germanier</cp:lastModifiedBy>
  <cp:revision>1</cp:revision>
  <dcterms:created xsi:type="dcterms:W3CDTF">2026-10-25T11:41:29Z</dcterms:created>
  <dcterms:modified xsi:type="dcterms:W3CDTF">2026-10-25T11:41:29Z</dcterms:modified>
</cp:coreProperties>
</file>